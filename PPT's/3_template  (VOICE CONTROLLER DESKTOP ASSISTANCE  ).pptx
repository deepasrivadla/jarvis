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77" r:id="rId3"/>
    <p:sldId id="257" r:id="rId4"/>
    <p:sldId id="258" r:id="rId5"/>
    <p:sldId id="259" r:id="rId6"/>
    <p:sldId id="288" r:id="rId7"/>
    <p:sldId id="289" r:id="rId8"/>
    <p:sldId id="264" r:id="rId9"/>
    <p:sldId id="266" r:id="rId10"/>
    <p:sldId id="294" r:id="rId11"/>
    <p:sldId id="286" r:id="rId12"/>
    <p:sldId id="267" r:id="rId13"/>
    <p:sldId id="279" r:id="rId14"/>
    <p:sldId id="287" r:id="rId15"/>
    <p:sldId id="280" r:id="rId16"/>
    <p:sldId id="275" r:id="rId17"/>
    <p:sldId id="281" r:id="rId18"/>
    <p:sldId id="290" r:id="rId19"/>
    <p:sldId id="283" r:id="rId20"/>
    <p:sldId id="291" r:id="rId21"/>
    <p:sldId id="292" r:id="rId22"/>
    <p:sldId id="295" r:id="rId23"/>
    <p:sldId id="296" r:id="rId24"/>
    <p:sldId id="293" r:id="rId25"/>
    <p:sldId id="284" r:id="rId26"/>
    <p:sldId id="285" r:id="rId27"/>
    <p:sldId id="270" r:id="rId28"/>
    <p:sldId id="271"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D6B481C4-B2FF-46B5-ADC8-2618CC8F372B}">
          <p14:sldIdLst>
            <p14:sldId id="256"/>
            <p14:sldId id="277"/>
            <p14:sldId id="257"/>
            <p14:sldId id="258"/>
            <p14:sldId id="259"/>
            <p14:sldId id="288"/>
            <p14:sldId id="289"/>
            <p14:sldId id="264"/>
            <p14:sldId id="266"/>
            <p14:sldId id="294"/>
            <p14:sldId id="286"/>
            <p14:sldId id="267"/>
            <p14:sldId id="279"/>
            <p14:sldId id="287"/>
            <p14:sldId id="280"/>
            <p14:sldId id="275"/>
            <p14:sldId id="281"/>
            <p14:sldId id="290"/>
            <p14:sldId id="283"/>
            <p14:sldId id="291"/>
            <p14:sldId id="292"/>
            <p14:sldId id="295"/>
            <p14:sldId id="296"/>
            <p14:sldId id="293"/>
            <p14:sldId id="284"/>
            <p14:sldId id="285"/>
            <p14:sldId id="270"/>
            <p14:sldId id="27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87" autoAdjust="0"/>
  </p:normalViewPr>
  <p:slideViewPr>
    <p:cSldViewPr snapToGrid="0">
      <p:cViewPr varScale="1">
        <p:scale>
          <a:sx n="67" d="100"/>
          <a:sy n="67" d="100"/>
        </p:scale>
        <p:origin x="558" y="66"/>
      </p:cViewPr>
      <p:guideLst>
        <p:guide orient="horz" pos="2160"/>
        <p:guide pos="3840"/>
      </p:guideLst>
    </p:cSldViewPr>
  </p:slideViewPr>
  <p:outlineViewPr>
    <p:cViewPr>
      <p:scale>
        <a:sx n="33" d="100"/>
        <a:sy n="33" d="100"/>
      </p:scale>
      <p:origin x="0" y="-505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spcBef>
                  <a:spcPts val="0"/>
                </a:spcBef>
                <a:spcAft>
                  <a:spcPts val="0"/>
                </a:spcAft>
                <a:buNone/>
              </a:p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spcBef>
                  <a:spcPts val="0"/>
                </a:spcBef>
                <a:spcAft>
                  <a:spcPts val="0"/>
                </a:spcAft>
                <a:buNone/>
              </a:pPr>
              <a:t>2</a:t>
            </a:fld>
            <a:endParaRPr lang="en-US" sz="12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402419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9" name="Google Shape;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imes New Roman" panose="020206030504050203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A1C291C-27F8-47A0-9718-41391B9D0764}" type="datetime1">
              <a:rPr lang="en-US" smtClean="0"/>
              <a:t>04-Aug-26</a:t>
            </a:fld>
            <a:endParaRPr/>
          </a:p>
        </p:txBody>
      </p:sp>
      <p:sp>
        <p:nvSpPr>
          <p:cNvPr id="22" name="Google Shape;22;p8"/>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CSE (AI&amp;ML)</a:t>
            </a:r>
            <a:endParaRPr/>
          </a:p>
        </p:txBody>
      </p:sp>
      <p:sp>
        <p:nvSpPr>
          <p:cNvPr id="23" name="Google Shape;2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5B93E1B-9C5F-4B58-A253-ECD6BC4641CD}" type="datetime1">
              <a:rPr lang="en-US" smtClean="0"/>
              <a:t>04-Aug-26</a:t>
            </a:fld>
            <a:endParaRPr/>
          </a:p>
        </p:txBody>
      </p:sp>
      <p:sp>
        <p:nvSpPr>
          <p:cNvPr id="28" name="Google Shape;28;p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CSE (AI&amp;ML)</a:t>
            </a:r>
            <a:endParaRPr/>
          </a:p>
        </p:txBody>
      </p:sp>
      <p:sp>
        <p:nvSpPr>
          <p:cNvPr id="29" name="Google Shape;2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
        <p:cNvGrpSpPr/>
        <p:nvPr/>
      </p:nvGrpSpPr>
      <p:grpSpPr>
        <a:xfrm>
          <a:off x="0" y="0"/>
          <a:ext cx="0" cy="0"/>
          <a:chOff x="0" y="0"/>
          <a:chExt cx="0" cy="0"/>
        </a:xfrm>
      </p:grpSpPr>
      <p:sp>
        <p:nvSpPr>
          <p:cNvPr id="31" name="Google Shape;31;p10"/>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FDD6F7C-D439-4855-B936-E8D57C7DB2E3}" type="datetime1">
              <a:rPr lang="en-US" smtClean="0"/>
              <a:t>04-Aug-26</a:t>
            </a:fld>
            <a:endParaRPr/>
          </a:p>
        </p:txBody>
      </p:sp>
      <p:sp>
        <p:nvSpPr>
          <p:cNvPr id="33" name="Google Shape;33;p10"/>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CSE (AI&amp;ML)</a:t>
            </a:r>
            <a:endParaRPr/>
          </a:p>
        </p:txBody>
      </p:sp>
      <p:sp>
        <p:nvSpPr>
          <p:cNvPr id="34" name="Google Shape;3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5"/>
        <p:cNvGrpSpPr/>
        <p:nvPr/>
      </p:nvGrpSpPr>
      <p:grpSpPr>
        <a:xfrm>
          <a:off x="0" y="0"/>
          <a:ext cx="0" cy="0"/>
          <a:chOff x="0" y="0"/>
          <a:chExt cx="0" cy="0"/>
        </a:xfrm>
      </p:grpSpPr>
      <p:sp>
        <p:nvSpPr>
          <p:cNvPr id="36" name="Google Shape;36;p11"/>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1B78123-3176-43F7-AB40-6823B5C92579}" type="datetime1">
              <a:rPr lang="en-US" smtClean="0"/>
              <a:t>04-Aug-26</a:t>
            </a:fld>
            <a:endParaRPr/>
          </a:p>
        </p:txBody>
      </p:sp>
      <p:sp>
        <p:nvSpPr>
          <p:cNvPr id="39" name="Google Shape;39;p11"/>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CSE (AI&amp;ML)</a:t>
            </a:r>
            <a:endParaRPr/>
          </a:p>
        </p:txBody>
      </p:sp>
      <p:sp>
        <p:nvSpPr>
          <p:cNvPr id="40" name="Google Shape;4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panose="02020603050405020304"/>
              <a:buNone/>
              <a:defRPr sz="4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fld id="{2D816C0D-0FCC-4CFD-AABD-8AEFA5DEC233}" type="datetime1">
              <a:rPr lang="en-US" smtClean="0"/>
              <a:t>04-Aug-26</a:t>
            </a:fld>
            <a:endParaRPr/>
          </a:p>
        </p:txBody>
      </p:sp>
      <p:sp>
        <p:nvSpPr>
          <p:cNvPr id="13" name="Google Shape;13;p7"/>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marR="0" lvl="0" algn="ctr" rtl="0">
              <a:spcBef>
                <a:spcPts val="0"/>
              </a:spcBef>
              <a:spcAft>
                <a:spcPts val="0"/>
              </a:spcAft>
              <a:buSzPts val="1400"/>
              <a:buNone/>
              <a:defRPr sz="1800" b="1" i="0" u="none" strike="noStrike" cap="none">
                <a:solidFill>
                  <a:srgbClr val="C77327"/>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r>
              <a:rPr lang="en-US"/>
              <a:t>Department of CSE (AI&amp;ML)</a:t>
            </a:r>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pic>
        <p:nvPicPr>
          <p:cNvPr id="15" name="Google Shape;15;p7"/>
          <p:cNvPicPr preferRelativeResize="0"/>
          <p:nvPr/>
        </p:nvPicPr>
        <p:blipFill rotWithShape="1">
          <a:blip r:embed="rId6"/>
          <a:srcRect/>
          <a:stretch>
            <a:fillRect/>
          </a:stretch>
        </p:blipFill>
        <p:spPr>
          <a:xfrm>
            <a:off x="317151" y="318062"/>
            <a:ext cx="1175746" cy="1270065"/>
          </a:xfrm>
          <a:prstGeom prst="rect">
            <a:avLst/>
          </a:prstGeom>
          <a:noFill/>
          <a:ln>
            <a:noFill/>
          </a:ln>
        </p:spPr>
      </p:pic>
      <p:sp>
        <p:nvSpPr>
          <p:cNvPr id="16" name="Google Shape;16;p7"/>
          <p:cNvSpPr/>
          <p:nvPr/>
        </p:nvSpPr>
        <p:spPr>
          <a:xfrm>
            <a:off x="1492898" y="1548882"/>
            <a:ext cx="9860901" cy="141805"/>
          </a:xfrm>
          <a:prstGeom prst="roundRect">
            <a:avLst>
              <a:gd name="adj" fmla="val 16667"/>
            </a:avLst>
          </a:prstGeom>
          <a:solidFill>
            <a:srgbClr val="DA7214"/>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 name="Google Shape;17;p7"/>
          <p:cNvSpPr/>
          <p:nvPr/>
        </p:nvSpPr>
        <p:spPr>
          <a:xfrm>
            <a:off x="317150" y="1541064"/>
            <a:ext cx="1175749" cy="182000"/>
          </a:xfrm>
          <a:prstGeom prst="chevron">
            <a:avLst>
              <a:gd name="adj" fmla="val 50000"/>
            </a:avLst>
          </a:prstGeom>
          <a:solidFill>
            <a:srgbClr val="00B0F0"/>
          </a:solidFill>
          <a:ln w="12700" cap="flat" cmpd="sng">
            <a:solidFill>
              <a:srgbClr val="DA72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pypi.org/project/SpeechRecognition/" TargetMode="External"/><Relationship Id="rId2" Type="http://schemas.openxmlformats.org/officeDocument/2006/relationships/hyperlink" Target="https://www.python.org/documentation/" TargetMode="External"/><Relationship Id="rId1" Type="http://schemas.openxmlformats.org/officeDocument/2006/relationships/slideLayout" Target="../slideLayouts/slideLayout3.xml"/><Relationship Id="rId6" Type="http://schemas.openxmlformats.org/officeDocument/2006/relationships/hyperlink" Target="https://cloud.google.com/speech-to-text" TargetMode="External"/><Relationship Id="rId5" Type="http://schemas.openxmlformats.org/officeDocument/2006/relationships/hyperlink" Target="https://www.mediawiki.org/wiki/API:Main_page" TargetMode="External"/><Relationship Id="rId4" Type="http://schemas.openxmlformats.org/officeDocument/2006/relationships/hyperlink" Target="https://pypi.org/project/pyttsx3/"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0B942-99F8-0F31-097E-76C8BE5B42C4}"/>
              </a:ext>
            </a:extLst>
          </p:cNvPr>
          <p:cNvSpPr>
            <a:spLocks noGrp="1"/>
          </p:cNvSpPr>
          <p:nvPr>
            <p:ph type="ctrTitle"/>
          </p:nvPr>
        </p:nvSpPr>
        <p:spPr>
          <a:xfrm>
            <a:off x="1737388" y="479756"/>
            <a:ext cx="9144000" cy="1198418"/>
          </a:xfrm>
        </p:spPr>
        <p:txBody>
          <a:bodyPr>
            <a:normAutofit/>
          </a:bodyPr>
          <a:lstStyle/>
          <a:p>
            <a:r>
              <a:rPr lang="en-US" sz="2800" b="1" i="0" u="none" strike="noStrike" cap="none" dirty="0">
                <a:solidFill>
                  <a:srgbClr val="002060"/>
                </a:solidFill>
                <a:latin typeface="Times New Roman"/>
                <a:ea typeface="Times New Roman"/>
                <a:cs typeface="Times New Roman"/>
                <a:sym typeface="Times New Roman"/>
              </a:rPr>
              <a:t>VIDYA JYOTHI INSTITUTE OF TECHNOLOGY </a:t>
            </a:r>
            <a:r>
              <a:rPr lang="en-US" sz="3200" b="0" i="0" u="none" strike="noStrike" cap="none" dirty="0">
                <a:solidFill>
                  <a:srgbClr val="002060"/>
                </a:solidFill>
                <a:latin typeface="Times New Roman"/>
                <a:ea typeface="Times New Roman"/>
                <a:cs typeface="Times New Roman"/>
                <a:sym typeface="Times New Roman"/>
              </a:rPr>
              <a:t>(Autonomous)</a:t>
            </a:r>
            <a:br>
              <a:rPr lang="en-US" sz="1800" b="0" i="0" u="none" strike="noStrike" cap="none" dirty="0">
                <a:solidFill>
                  <a:srgbClr val="002060"/>
                </a:solidFill>
                <a:latin typeface="Times New Roman"/>
                <a:ea typeface="Times New Roman"/>
                <a:cs typeface="Times New Roman"/>
                <a:sym typeface="Times New Roman"/>
              </a:rPr>
            </a:br>
            <a:endParaRPr lang="en-IN" sz="1400" dirty="0"/>
          </a:p>
        </p:txBody>
      </p:sp>
      <p:sp>
        <p:nvSpPr>
          <p:cNvPr id="3" name="Subtitle 2">
            <a:extLst>
              <a:ext uri="{FF2B5EF4-FFF2-40B4-BE49-F238E27FC236}">
                <a16:creationId xmlns:a16="http://schemas.microsoft.com/office/drawing/2014/main" id="{684D525F-2972-95FA-E70F-CE366F51ADED}"/>
              </a:ext>
            </a:extLst>
          </p:cNvPr>
          <p:cNvSpPr>
            <a:spLocks noGrp="1"/>
          </p:cNvSpPr>
          <p:nvPr>
            <p:ph type="subTitle" idx="1"/>
          </p:nvPr>
        </p:nvSpPr>
        <p:spPr>
          <a:xfrm>
            <a:off x="187035" y="1842655"/>
            <a:ext cx="11804073" cy="4807526"/>
          </a:xfrm>
        </p:spPr>
        <p:txBody>
          <a:bodyPr/>
          <a:lstStyle/>
          <a:p>
            <a:endParaRPr lang="en-IN" dirty="0"/>
          </a:p>
          <a:p>
            <a:endParaRPr lang="en-IN" dirty="0"/>
          </a:p>
          <a:p>
            <a:endParaRPr lang="en-IN" dirty="0"/>
          </a:p>
        </p:txBody>
      </p:sp>
      <p:sp>
        <p:nvSpPr>
          <p:cNvPr id="10" name="TextBox 9">
            <a:extLst>
              <a:ext uri="{FF2B5EF4-FFF2-40B4-BE49-F238E27FC236}">
                <a16:creationId xmlns:a16="http://schemas.microsoft.com/office/drawing/2014/main" id="{9032D035-6B82-A8F5-7326-E03B6873772E}"/>
              </a:ext>
            </a:extLst>
          </p:cNvPr>
          <p:cNvSpPr txBox="1"/>
          <p:nvPr/>
        </p:nvSpPr>
        <p:spPr>
          <a:xfrm>
            <a:off x="1939223" y="3429000"/>
            <a:ext cx="5827608" cy="786754"/>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TEAM  MEMBERS :</a:t>
            </a:r>
          </a:p>
          <a:p>
            <a:pPr>
              <a:lnSpc>
                <a:spcPct val="150000"/>
              </a:lnSpc>
            </a:pPr>
            <a:r>
              <a:rPr lang="en-US" sz="1600" b="1" dirty="0">
                <a:latin typeface="Times New Roman" panose="02020603050405020304" pitchFamily="18" charset="0"/>
                <a:cs typeface="Times New Roman" panose="02020603050405020304" pitchFamily="18" charset="0"/>
              </a:rPr>
              <a:t>1.</a:t>
            </a:r>
            <a:r>
              <a:rPr lang="en-US" sz="1600" dirty="0">
                <a:latin typeface="Times New Roman" panose="02020603050405020304" pitchFamily="18" charset="0"/>
                <a:cs typeface="Times New Roman" panose="02020603050405020304" pitchFamily="18" charset="0"/>
              </a:rPr>
              <a:t>DEEPA SRI VADLA                [ 23911A0514 ]</a:t>
            </a:r>
            <a:endParaRPr lang="en-US" sz="16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E19BEBB-83BD-8403-7C20-FA39ECABE17B}"/>
              </a:ext>
            </a:extLst>
          </p:cNvPr>
          <p:cNvSpPr txBox="1"/>
          <p:nvPr/>
        </p:nvSpPr>
        <p:spPr>
          <a:xfrm>
            <a:off x="8178800" y="3191158"/>
            <a:ext cx="3606800" cy="1156086"/>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Guided By</a:t>
            </a:r>
            <a:r>
              <a:rPr lang="en-US" sz="1600" dirty="0">
                <a:latin typeface="Times New Roman" panose="02020603050405020304" pitchFamily="18" charset="0"/>
                <a:cs typeface="Times New Roman" panose="02020603050405020304" pitchFamily="18" charset="0"/>
              </a:rPr>
              <a:t>:</a:t>
            </a:r>
          </a:p>
          <a:p>
            <a:pPr>
              <a:lnSpc>
                <a:spcPct val="150000"/>
              </a:lnSpc>
            </a:pPr>
            <a:r>
              <a:rPr lang="en-US" sz="1600" dirty="0">
                <a:latin typeface="Times New Roman" panose="02020603050405020304" pitchFamily="18" charset="0"/>
                <a:cs typeface="Times New Roman" panose="02020603050405020304" pitchFamily="18" charset="0"/>
              </a:rPr>
              <a:t>Dr. Md Zaheer Ahmed</a:t>
            </a:r>
          </a:p>
          <a:p>
            <a:pPr>
              <a:lnSpc>
                <a:spcPct val="150000"/>
              </a:lnSpc>
            </a:pPr>
            <a:r>
              <a:rPr lang="en-US" sz="1600" dirty="0">
                <a:latin typeface="Times New Roman" panose="02020603050405020304" pitchFamily="18" charset="0"/>
                <a:cs typeface="Times New Roman" panose="02020603050405020304" pitchFamily="18" charset="0"/>
              </a:rPr>
              <a:t>Assistant Professor</a:t>
            </a: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2147BA4-FE00-EA00-CD68-DAD3CBA9945E}"/>
              </a:ext>
            </a:extLst>
          </p:cNvPr>
          <p:cNvSpPr txBox="1"/>
          <p:nvPr/>
        </p:nvSpPr>
        <p:spPr>
          <a:xfrm>
            <a:off x="838200" y="2255297"/>
            <a:ext cx="10202334" cy="523220"/>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VOICE CONTROLLER DESKTOP ASSISTANCE </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32D035-6B82-A8F5-7326-E03B6873772E}"/>
              </a:ext>
            </a:extLst>
          </p:cNvPr>
          <p:cNvSpPr txBox="1"/>
          <p:nvPr/>
        </p:nvSpPr>
        <p:spPr>
          <a:xfrm>
            <a:off x="8178800" y="4551338"/>
            <a:ext cx="3080670" cy="1894749"/>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Project Coordinator</a:t>
            </a:r>
          </a:p>
          <a:p>
            <a:pPr lvl="3">
              <a:lnSpc>
                <a:spcPct val="150000"/>
              </a:lnSpc>
            </a:pPr>
            <a:r>
              <a:rPr lang="en-US" sz="1600" dirty="0">
                <a:latin typeface="Times New Roman" panose="02020603050405020304" pitchFamily="18" charset="0"/>
                <a:cs typeface="Times New Roman" panose="02020603050405020304" pitchFamily="18" charset="0"/>
              </a:rPr>
              <a:t>Dr.Ch.Deepika / </a:t>
            </a:r>
          </a:p>
          <a:p>
            <a:pPr lvl="3">
              <a:lnSpc>
                <a:spcPct val="150000"/>
              </a:lnSpc>
            </a:pPr>
            <a:r>
              <a:rPr lang="en-US" sz="1600" dirty="0">
                <a:latin typeface="Times New Roman" panose="02020603050405020304" pitchFamily="18" charset="0"/>
                <a:cs typeface="Times New Roman" panose="02020603050405020304" pitchFamily="18" charset="0"/>
              </a:rPr>
              <a:t>Mrs.G.Kalpana / </a:t>
            </a:r>
          </a:p>
          <a:p>
            <a:pPr lvl="3">
              <a:lnSpc>
                <a:spcPct val="150000"/>
              </a:lnSpc>
            </a:pPr>
            <a:r>
              <a:rPr lang="en-US" sz="1600" dirty="0">
                <a:latin typeface="Times New Roman" panose="02020603050405020304" pitchFamily="18" charset="0"/>
                <a:cs typeface="Times New Roman" panose="02020603050405020304" pitchFamily="18" charset="0"/>
              </a:rPr>
              <a:t>Mr.V.Narsing Rao</a:t>
            </a:r>
          </a:p>
          <a:p>
            <a:pPr>
              <a:lnSpc>
                <a:spcPct val="150000"/>
              </a:lnSpc>
            </a:pPr>
            <a:endParaRPr lang="en-US" sz="1600" dirty="0">
              <a:latin typeface="Times New Roman" panose="02020603050405020304" pitchFamily="18" charset="0"/>
              <a:cs typeface="Times New Roman" panose="02020603050405020304" pitchFamily="18" charset="0"/>
            </a:endParaRPr>
          </a:p>
        </p:txBody>
      </p:sp>
      <p:sp>
        <p:nvSpPr>
          <p:cNvPr id="13" name="Date Placeholder 12"/>
          <p:cNvSpPr>
            <a:spLocks noGrp="1"/>
          </p:cNvSpPr>
          <p:nvPr>
            <p:ph type="dt" idx="10"/>
          </p:nvPr>
        </p:nvSpPr>
        <p:spPr/>
        <p:txBody>
          <a:bodyPr/>
          <a:lstStyle/>
          <a:p>
            <a:r>
              <a:rPr lang="en-US"/>
              <a:t>1-May-26</a:t>
            </a:r>
            <a:endParaRPr lang="en-US" dirty="0"/>
          </a:p>
        </p:txBody>
      </p:sp>
      <p:sp>
        <p:nvSpPr>
          <p:cNvPr id="14" name="Slide Number Placeholder 1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dirty="0"/>
          </a:p>
        </p:txBody>
      </p:sp>
      <p:sp>
        <p:nvSpPr>
          <p:cNvPr id="15" name="Footer Placeholder 14"/>
          <p:cNvSpPr>
            <a:spLocks noGrp="1"/>
          </p:cNvSpPr>
          <p:nvPr>
            <p:ph type="ftr" idx="11"/>
          </p:nvPr>
        </p:nvSpPr>
        <p:spPr/>
        <p:txBody>
          <a:bodyPr/>
          <a:lstStyle/>
          <a:p>
            <a:r>
              <a:rPr lang="en-US" dirty="0"/>
              <a:t>Department of CSE </a:t>
            </a:r>
          </a:p>
        </p:txBody>
      </p:sp>
    </p:spTree>
    <p:extLst>
      <p:ext uri="{BB962C8B-B14F-4D97-AF65-F5344CB8AC3E}">
        <p14:creationId xmlns:p14="http://schemas.microsoft.com/office/powerpoint/2010/main" val="3577313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300" y="365125"/>
            <a:ext cx="9860902" cy="1325563"/>
          </a:xfrm>
        </p:spPr>
        <p:txBody>
          <a:bodyPr>
            <a:normAutofit/>
          </a:bodyPr>
          <a:lstStyle/>
          <a:p>
            <a:r>
              <a:rPr lang="en-US" sz="3500" b="1" dirty="0"/>
              <a:t>CONTENTS</a:t>
            </a:r>
          </a:p>
        </p:txBody>
      </p:sp>
      <p:sp>
        <p:nvSpPr>
          <p:cNvPr id="3" name="Text Placeholder 2"/>
          <p:cNvSpPr>
            <a:spLocks noGrp="1"/>
          </p:cNvSpPr>
          <p:nvPr>
            <p:ph type="body" idx="1"/>
          </p:nvPr>
        </p:nvSpPr>
        <p:spPr>
          <a:xfrm>
            <a:off x="2091155" y="1785441"/>
            <a:ext cx="3894890" cy="4288304"/>
          </a:xfrm>
        </p:spPr>
        <p:txBody>
          <a:bodyPr>
            <a:noAutofit/>
          </a:bodyPr>
          <a:lstStyle/>
          <a:p>
            <a:pPr>
              <a:lnSpc>
                <a:spcPct val="150000"/>
              </a:lnSpc>
              <a:buNone/>
            </a:pPr>
            <a:r>
              <a:rPr lang="en-US" sz="1300" b="1" dirty="0">
                <a:latin typeface="Times New Roman" panose="02020603050405020304" pitchFamily="18" charset="0"/>
                <a:cs typeface="Times New Roman" panose="02020603050405020304" pitchFamily="18" charset="0"/>
              </a:rPr>
              <a:t>Review1:</a:t>
            </a:r>
          </a:p>
          <a:p>
            <a:pPr>
              <a:lnSpc>
                <a:spcPct val="150000"/>
              </a:lnSpc>
            </a:pPr>
            <a:r>
              <a:rPr lang="en-US" sz="1300" dirty="0">
                <a:latin typeface="Times New Roman" panose="02020603050405020304" pitchFamily="18" charset="0"/>
                <a:cs typeface="Times New Roman" panose="02020603050405020304" pitchFamily="18" charset="0"/>
              </a:rPr>
              <a:t>Introduction </a:t>
            </a:r>
          </a:p>
          <a:p>
            <a:pPr>
              <a:lnSpc>
                <a:spcPct val="150000"/>
              </a:lnSpc>
            </a:pPr>
            <a:r>
              <a:rPr lang="en-US" sz="1300" dirty="0">
                <a:latin typeface="Times New Roman" panose="02020603050405020304" pitchFamily="18" charset="0"/>
                <a:cs typeface="Times New Roman" panose="02020603050405020304" pitchFamily="18" charset="0"/>
              </a:rPr>
              <a:t>Abstract</a:t>
            </a:r>
          </a:p>
          <a:p>
            <a:pPr>
              <a:lnSpc>
                <a:spcPct val="150000"/>
              </a:lnSpc>
            </a:pPr>
            <a:r>
              <a:rPr lang="en-US" sz="1300" dirty="0">
                <a:latin typeface="Times New Roman" panose="02020603050405020304" pitchFamily="18" charset="0"/>
                <a:cs typeface="Times New Roman" panose="02020603050405020304" pitchFamily="18" charset="0"/>
              </a:rPr>
              <a:t>Literature Survey</a:t>
            </a:r>
          </a:p>
          <a:p>
            <a:pPr>
              <a:lnSpc>
                <a:spcPct val="150000"/>
              </a:lnSpc>
            </a:pPr>
            <a:r>
              <a:rPr lang="en-US" sz="1300" dirty="0">
                <a:latin typeface="Times New Roman" panose="02020603050405020304" pitchFamily="18" charset="0"/>
                <a:cs typeface="Times New Roman" panose="02020603050405020304" pitchFamily="18" charset="0"/>
              </a:rPr>
              <a:t>Drawbacks of Existing System</a:t>
            </a:r>
          </a:p>
          <a:p>
            <a:pPr>
              <a:lnSpc>
                <a:spcPct val="150000"/>
              </a:lnSpc>
            </a:pPr>
            <a:r>
              <a:rPr lang="en-US" sz="1300" dirty="0">
                <a:latin typeface="Times New Roman" panose="02020603050405020304" pitchFamily="18" charset="0"/>
                <a:cs typeface="Times New Roman" panose="02020603050405020304" pitchFamily="18" charset="0"/>
              </a:rPr>
              <a:t>Proposed System</a:t>
            </a:r>
          </a:p>
          <a:p>
            <a:pPr>
              <a:lnSpc>
                <a:spcPct val="150000"/>
              </a:lnSpc>
            </a:pPr>
            <a:r>
              <a:rPr lang="en-US" sz="1300" dirty="0">
                <a:latin typeface="Times New Roman" panose="02020603050405020304" pitchFamily="18" charset="0"/>
                <a:cs typeface="Times New Roman" panose="02020603050405020304" pitchFamily="18" charset="0"/>
              </a:rPr>
              <a:t>Software and Hardware Requirements</a:t>
            </a:r>
          </a:p>
          <a:p>
            <a:pPr marL="114300" indent="0">
              <a:lnSpc>
                <a:spcPct val="150000"/>
              </a:lnSpc>
              <a:buNone/>
            </a:pPr>
            <a:r>
              <a:rPr lang="en-US" sz="1300" b="1" dirty="0">
                <a:latin typeface="Times New Roman" panose="02020603050405020304" pitchFamily="18" charset="0"/>
                <a:cs typeface="Times New Roman" panose="02020603050405020304" pitchFamily="18" charset="0"/>
              </a:rPr>
              <a:t>Review2:</a:t>
            </a:r>
          </a:p>
          <a:p>
            <a:pPr>
              <a:lnSpc>
                <a:spcPct val="150000"/>
              </a:lnSpc>
            </a:pPr>
            <a:r>
              <a:rPr lang="en-US" sz="1300" dirty="0">
                <a:latin typeface="Times New Roman" panose="02020603050405020304" pitchFamily="18" charset="0"/>
                <a:cs typeface="Times New Roman" panose="02020603050405020304" pitchFamily="18" charset="0"/>
              </a:rPr>
              <a:t>Modules</a:t>
            </a:r>
          </a:p>
          <a:p>
            <a:pPr>
              <a:lnSpc>
                <a:spcPct val="150000"/>
              </a:lnSpc>
            </a:pPr>
            <a:r>
              <a:rPr lang="en-US" sz="1300" dirty="0">
                <a:latin typeface="Times New Roman" panose="02020603050405020304" pitchFamily="18" charset="0"/>
                <a:cs typeface="Times New Roman" panose="02020603050405020304" pitchFamily="18" charset="0"/>
              </a:rPr>
              <a:t>Architecture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dirty="0"/>
          </a:p>
        </p:txBody>
      </p:sp>
      <p:sp>
        <p:nvSpPr>
          <p:cNvPr id="6" name="Date Placeholder 5"/>
          <p:cNvSpPr>
            <a:spLocks noGrp="1"/>
          </p:cNvSpPr>
          <p:nvPr>
            <p:ph type="dt" idx="10"/>
          </p:nvPr>
        </p:nvSpPr>
        <p:spPr>
          <a:xfrm>
            <a:off x="636494" y="6538913"/>
            <a:ext cx="2160494" cy="319088"/>
          </a:xfrm>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
        <p:nvSpPr>
          <p:cNvPr id="5" name="TextBox 4">
            <a:extLst>
              <a:ext uri="{FF2B5EF4-FFF2-40B4-BE49-F238E27FC236}">
                <a16:creationId xmlns:a16="http://schemas.microsoft.com/office/drawing/2014/main" id="{A48523F5-E0DA-475A-A9F3-B309490BC325}"/>
              </a:ext>
            </a:extLst>
          </p:cNvPr>
          <p:cNvSpPr txBox="1"/>
          <p:nvPr/>
        </p:nvSpPr>
        <p:spPr>
          <a:xfrm>
            <a:off x="6729837" y="2207445"/>
            <a:ext cx="4733365" cy="363214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UML Diagrams/Flow chats/DFD</a:t>
            </a:r>
          </a:p>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Implementation</a:t>
            </a:r>
          </a:p>
          <a:p>
            <a:pPr>
              <a:lnSpc>
                <a:spcPct val="200000"/>
              </a:lnSpc>
              <a:buNone/>
            </a:pPr>
            <a:r>
              <a:rPr lang="en-US" sz="1300" b="1" dirty="0">
                <a:latin typeface="Times New Roman" panose="02020603050405020304" pitchFamily="18" charset="0"/>
                <a:cs typeface="Times New Roman" panose="02020603050405020304" pitchFamily="18" charset="0"/>
              </a:rPr>
              <a:t>Review3:</a:t>
            </a:r>
          </a:p>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Testing</a:t>
            </a:r>
          </a:p>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Results/Output screens</a:t>
            </a:r>
          </a:p>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Conclusion</a:t>
            </a:r>
          </a:p>
          <a:p>
            <a:pPr marL="285750" indent="-285750">
              <a:lnSpc>
                <a:spcPct val="200000"/>
              </a:lnSpc>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Future Scope</a:t>
            </a:r>
          </a:p>
          <a:p>
            <a:pPr>
              <a:lnSpc>
                <a:spcPct val="200000"/>
              </a:lnSpc>
            </a:pPr>
            <a:endParaRPr lang="en-US" sz="1300" dirty="0">
              <a:latin typeface="Times New Roman" panose="02020603050405020304" pitchFamily="18" charset="0"/>
              <a:cs typeface="Times New Roman" panose="02020603050405020304" pitchFamily="18" charset="0"/>
            </a:endParaRPr>
          </a:p>
          <a:p>
            <a:pPr>
              <a:lnSpc>
                <a:spcPct val="200000"/>
              </a:lnSpc>
            </a:pPr>
            <a:r>
              <a:rPr lang="en-US" sz="1300" b="1" dirty="0">
                <a:latin typeface="Times New Roman" panose="02020603050405020304" pitchFamily="18" charset="0"/>
                <a:cs typeface="Times New Roman" panose="02020603050405020304" pitchFamily="18" charset="0"/>
              </a:rPr>
              <a:t>Draft Documentation</a:t>
            </a:r>
            <a:endParaRPr lang="en-US" sz="13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5"/>
          <p:cNvSpPr txBox="1">
            <a:spLocks noGrp="1"/>
          </p:cNvSpPr>
          <p:nvPr>
            <p:ph type="title"/>
          </p:nvPr>
        </p:nvSpPr>
        <p:spPr>
          <a:xfrm>
            <a:off x="1703046" y="457729"/>
            <a:ext cx="986090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sz="3500" b="1" dirty="0">
                <a:latin typeface="Times New Roman" panose="02020603050405020304" pitchFamily="18" charset="0"/>
                <a:cs typeface="Times New Roman" panose="02020603050405020304" pitchFamily="18" charset="0"/>
              </a:rPr>
              <a:t>INTRODUCTION</a:t>
            </a:r>
          </a:p>
        </p:txBody>
      </p:sp>
      <p:sp>
        <p:nvSpPr>
          <p:cNvPr id="62" name="Google Shape;62;p5"/>
          <p:cNvSpPr txBox="1">
            <a:spLocks noGrp="1"/>
          </p:cNvSpPr>
          <p:nvPr>
            <p:ph type="body" idx="1"/>
          </p:nvPr>
        </p:nvSpPr>
        <p:spPr>
          <a:xfrm>
            <a:off x="1631328" y="1888067"/>
            <a:ext cx="8990952" cy="4258734"/>
          </a:xfrm>
          <a:prstGeom prst="rect">
            <a:avLst/>
          </a:prstGeom>
          <a:noFill/>
          <a:ln>
            <a:noFill/>
          </a:ln>
        </p:spPr>
        <p:txBody>
          <a:bodyPr spcFirstLastPara="1" wrap="square" lIns="91425" tIns="45700" rIns="91425" bIns="45700" anchor="t" anchorCtr="0">
            <a:noAutofit/>
          </a:bodyPr>
          <a:lstStyle/>
          <a:p>
            <a:pPr>
              <a:lnSpc>
                <a:spcPct val="200000"/>
              </a:lnSpc>
            </a:pPr>
            <a:r>
              <a:rPr lang="en-US" sz="1500" dirty="0">
                <a:latin typeface="Times New Roman" panose="02020603050405020304" pitchFamily="18" charset="0"/>
                <a:cs typeface="Times New Roman" panose="02020603050405020304" pitchFamily="18" charset="0"/>
              </a:rPr>
              <a:t>In recent years, voice-based technologies have become important in improving human–computer interaction.</a:t>
            </a:r>
          </a:p>
          <a:p>
            <a:pPr>
              <a:lnSpc>
                <a:spcPct val="200000"/>
              </a:lnSpc>
            </a:pPr>
            <a:r>
              <a:rPr lang="en-US" sz="1500" dirty="0">
                <a:latin typeface="Times New Roman" panose="02020603050405020304" pitchFamily="18" charset="0"/>
                <a:cs typeface="Times New Roman" panose="02020603050405020304" pitchFamily="18" charset="0"/>
              </a:rPr>
              <a:t> Voice assistants allow users to perform tasks using speech instead of traditional input devices like keyboard and mouse. This makes interaction faster, easier, and more convenient, especially for hands-free operation.</a:t>
            </a:r>
          </a:p>
          <a:p>
            <a:pPr>
              <a:lnSpc>
                <a:spcPct val="200000"/>
              </a:lnSpc>
            </a:pPr>
            <a:r>
              <a:rPr lang="en-US" sz="1500" dirty="0">
                <a:latin typeface="Times New Roman" panose="02020603050405020304" pitchFamily="18" charset="0"/>
                <a:cs typeface="Times New Roman" panose="02020603050405020304" pitchFamily="18" charset="0"/>
              </a:rPr>
              <a:t>This project focuses on developing a Python-based voice assistant named Jarvis. The system can understand voice commands, process them, and perform tasks such as opening applications, searching information, and responding through voice output. </a:t>
            </a:r>
          </a:p>
          <a:p>
            <a:pPr>
              <a:lnSpc>
                <a:spcPct val="200000"/>
              </a:lnSpc>
            </a:pPr>
            <a:r>
              <a:rPr lang="en-US" sz="1500" dirty="0">
                <a:latin typeface="Times New Roman" panose="02020603050405020304" pitchFamily="18" charset="0"/>
                <a:cs typeface="Times New Roman" panose="02020603050405020304" pitchFamily="18" charset="0"/>
              </a:rPr>
              <a:t>It also helps in understanding real-time processing and automation concepts.</a:t>
            </a:r>
          </a:p>
        </p:txBody>
      </p:sp>
      <p:sp>
        <p:nvSpPr>
          <p:cNvPr id="7" name="Date Placeholder 6"/>
          <p:cNvSpPr>
            <a:spLocks noGrp="1"/>
          </p:cNvSpPr>
          <p:nvPr>
            <p:ph type="dt" idx="10"/>
          </p:nvPr>
        </p:nvSpPr>
        <p:spPr/>
        <p:txBody>
          <a:bodyPr/>
          <a:lstStyle/>
          <a:p>
            <a:r>
              <a:rPr lang="en-US" dirty="0"/>
              <a:t>1-May-26</a:t>
            </a:r>
          </a:p>
        </p:txBody>
      </p:sp>
      <p:sp>
        <p:nvSpPr>
          <p:cNvPr id="8" name="Slide Number Placeholder 7"/>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pPr marL="0" lvl="0" indent="0" algn="r" rtl="0">
                <a:spcBef>
                  <a:spcPts val="0"/>
                </a:spcBef>
                <a:spcAft>
                  <a:spcPts val="0"/>
                </a:spcAft>
                <a:buNone/>
              </a:pPr>
              <a:t>3</a:t>
            </a:fld>
            <a:endParaRPr lang="en-US"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idx="11"/>
          </p:nvPr>
        </p:nvSpPr>
        <p:spPr/>
        <p:txBody>
          <a:bodyPr/>
          <a:lstStyle/>
          <a:p>
            <a:r>
              <a:rPr lang="en-US" dirty="0">
                <a:latin typeface="Times New Roman" panose="02020603050405020304" pitchFamily="18" charset="0"/>
                <a:cs typeface="Times New Roman" panose="02020603050405020304" pitchFamily="18" charset="0"/>
              </a:rPr>
              <a:t>Department of CSE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74C183-0906-679C-9200-A44F3B8FBF67}"/>
              </a:ext>
            </a:extLst>
          </p:cNvPr>
          <p:cNvSpPr>
            <a:spLocks noGrp="1"/>
          </p:cNvSpPr>
          <p:nvPr>
            <p:ph type="body" idx="1"/>
          </p:nvPr>
        </p:nvSpPr>
        <p:spPr>
          <a:xfrm>
            <a:off x="1603691" y="1760138"/>
            <a:ext cx="9534479" cy="4351338"/>
          </a:xfrm>
        </p:spPr>
        <p:txBody>
          <a:bodyPr>
            <a:normAutofit/>
          </a:bodyPr>
          <a:lstStyle/>
          <a:p>
            <a:pPr marL="139700" indent="0" algn="just">
              <a:lnSpc>
                <a:spcPct val="200000"/>
              </a:lnSpc>
              <a:buNone/>
            </a:pPr>
            <a:r>
              <a:rPr lang="en-US" sz="1500" dirty="0">
                <a:latin typeface="Times New Roman" panose="02020603050405020304" pitchFamily="18" charset="0"/>
                <a:cs typeface="Times New Roman" panose="02020603050405020304" pitchFamily="18" charset="0"/>
              </a:rPr>
              <a:t>Jarvis is a Python-based voice assistant developed to make human–computer interaction easier and more natural. It allows users to perform basic tasks using voice commands instead of manual input. The assistant listens to the user’s voice, converts speech into text, processes the command, and responds through voice output, providing a user-friendly experience.</a:t>
            </a:r>
          </a:p>
          <a:p>
            <a:pPr marL="139700" indent="0" algn="just">
              <a:lnSpc>
                <a:spcPct val="200000"/>
              </a:lnSpc>
              <a:buNone/>
            </a:pPr>
            <a:r>
              <a:rPr lang="en-US" sz="1500" dirty="0">
                <a:latin typeface="Times New Roman" panose="02020603050405020304" pitchFamily="18" charset="0"/>
                <a:cs typeface="Times New Roman" panose="02020603050405020304" pitchFamily="18" charset="0"/>
              </a:rPr>
              <a:t>The system is built using Python libraries such as Speech Recognition for voice input processing and pyttsx3 for text-to-speech conversion. Jarvis can perform tasks like searching information on Wikipedia, opening websites such as Google and YouTube, playing music, and telling the current time. This project helps in understanding speech processing and automation concepts and demonstrates how Python can be used to build simple and effective voice-based applications.</a:t>
            </a:r>
          </a:p>
        </p:txBody>
      </p:sp>
      <p:sp>
        <p:nvSpPr>
          <p:cNvPr id="2" name="TextBox 1">
            <a:extLst>
              <a:ext uri="{FF2B5EF4-FFF2-40B4-BE49-F238E27FC236}">
                <a16:creationId xmlns:a16="http://schemas.microsoft.com/office/drawing/2014/main" id="{B406E25C-7396-C2C8-65EF-8D21B8041E87}"/>
              </a:ext>
            </a:extLst>
          </p:cNvPr>
          <p:cNvSpPr txBox="1"/>
          <p:nvPr/>
        </p:nvSpPr>
        <p:spPr>
          <a:xfrm>
            <a:off x="1799924" y="746524"/>
            <a:ext cx="7700211" cy="630942"/>
          </a:xfrm>
          <a:prstGeom prst="rect">
            <a:avLst/>
          </a:prstGeom>
          <a:noFill/>
        </p:spPr>
        <p:txBody>
          <a:bodyPr wrap="square" rtlCol="0">
            <a:spAutoFit/>
          </a:bodyPr>
          <a:lstStyle/>
          <a:p>
            <a:r>
              <a:rPr lang="en-US" sz="3500" b="1" dirty="0">
                <a:latin typeface="Times New Roman" panose="02020603050405020304" pitchFamily="18" charset="0"/>
                <a:cs typeface="Times New Roman" panose="02020603050405020304" pitchFamily="18" charset="0"/>
              </a:rPr>
              <a:t>ABSTRACT</a:t>
            </a:r>
            <a:endParaRPr lang="en-IN" sz="3500" b="1" dirty="0">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idx="10"/>
          </p:nvPr>
        </p:nvSpPr>
        <p:spPr/>
        <p:txBody>
          <a:bodyPr/>
          <a:lstStyle/>
          <a:p>
            <a:r>
              <a:rPr lang="en-US" dirty="0"/>
              <a:t>1-May-26</a:t>
            </a:r>
          </a:p>
        </p:txBody>
      </p:sp>
      <p:sp>
        <p:nvSpPr>
          <p:cNvPr id="9" name="Slide Number Placeholder 8"/>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dirty="0"/>
          </a:p>
        </p:txBody>
      </p:sp>
      <p:sp>
        <p:nvSpPr>
          <p:cNvPr id="10" name="Footer Placeholder 9"/>
          <p:cNvSpPr>
            <a:spLocks noGrp="1"/>
          </p:cNvSpPr>
          <p:nvPr>
            <p:ph type="ftr" idx="11"/>
          </p:nvPr>
        </p:nvSpPr>
        <p:spPr/>
        <p:txBody>
          <a:bodyPr/>
          <a:lstStyle/>
          <a:p>
            <a:r>
              <a:rPr lang="en-US" dirty="0"/>
              <a:t>Department of CSE </a:t>
            </a:r>
          </a:p>
        </p:txBody>
      </p:sp>
    </p:spTree>
    <p:extLst>
      <p:ext uri="{BB962C8B-B14F-4D97-AF65-F5344CB8AC3E}">
        <p14:creationId xmlns:p14="http://schemas.microsoft.com/office/powerpoint/2010/main" val="3414861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7AB4-E984-A370-B8A7-B955B8D0E8D5}"/>
              </a:ext>
            </a:extLst>
          </p:cNvPr>
          <p:cNvSpPr>
            <a:spLocks noGrp="1"/>
          </p:cNvSpPr>
          <p:nvPr>
            <p:ph type="title"/>
          </p:nvPr>
        </p:nvSpPr>
        <p:spPr>
          <a:xfrm>
            <a:off x="1636334" y="365125"/>
            <a:ext cx="9860902" cy="1325563"/>
          </a:xfrm>
        </p:spPr>
        <p:txBody>
          <a:bodyPr>
            <a:normAutofit/>
          </a:bodyPr>
          <a:lstStyle/>
          <a:p>
            <a:r>
              <a:rPr lang="en-IN" sz="3500" b="1" dirty="0"/>
              <a:t>LITERATURE SURVEY</a:t>
            </a:r>
          </a:p>
        </p:txBody>
      </p:sp>
      <p:sp>
        <p:nvSpPr>
          <p:cNvPr id="7" name="Date Placeholder 6"/>
          <p:cNvSpPr>
            <a:spLocks noGrp="1"/>
          </p:cNvSpPr>
          <p:nvPr>
            <p:ph type="dt" idx="10"/>
          </p:nvPr>
        </p:nvSpPr>
        <p:spPr/>
        <p:txBody>
          <a:bodyPr/>
          <a:lstStyle/>
          <a:p>
            <a:r>
              <a:rPr lang="en-US" dirty="0"/>
              <a:t>1-May-26</a:t>
            </a:r>
          </a:p>
        </p:txBody>
      </p:sp>
      <p:sp>
        <p:nvSpPr>
          <p:cNvPr id="8" name="Slide Number Placeholder 7"/>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dirty="0"/>
          </a:p>
        </p:txBody>
      </p:sp>
      <p:sp>
        <p:nvSpPr>
          <p:cNvPr id="9" name="Footer Placeholder 8"/>
          <p:cNvSpPr>
            <a:spLocks noGrp="1"/>
          </p:cNvSpPr>
          <p:nvPr>
            <p:ph type="ftr" idx="11"/>
          </p:nvPr>
        </p:nvSpPr>
        <p:spPr/>
        <p:txBody>
          <a:bodyPr/>
          <a:lstStyle/>
          <a:p>
            <a:r>
              <a:rPr lang="en-US" dirty="0"/>
              <a:t>Department of CSE </a:t>
            </a:r>
          </a:p>
        </p:txBody>
      </p:sp>
      <p:sp>
        <p:nvSpPr>
          <p:cNvPr id="3" name="TextBox 2">
            <a:extLst>
              <a:ext uri="{FF2B5EF4-FFF2-40B4-BE49-F238E27FC236}">
                <a16:creationId xmlns:a16="http://schemas.microsoft.com/office/drawing/2014/main" id="{19483E30-DBF3-4E48-8557-2F404CDB3C82}"/>
              </a:ext>
            </a:extLst>
          </p:cNvPr>
          <p:cNvSpPr txBox="1"/>
          <p:nvPr/>
        </p:nvSpPr>
        <p:spPr>
          <a:xfrm>
            <a:off x="1713797" y="2099591"/>
            <a:ext cx="9705975" cy="323165"/>
          </a:xfrm>
          <a:prstGeom prst="rect">
            <a:avLst/>
          </a:prstGeom>
          <a:noFill/>
        </p:spPr>
        <p:txBody>
          <a:bodyPr wrap="square" rtlCol="0">
            <a:spAutoFit/>
          </a:bodyPr>
          <a:lstStyle/>
          <a:p>
            <a:r>
              <a:rPr lang="en-US" sz="1500" dirty="0"/>
              <a:t> </a:t>
            </a:r>
          </a:p>
        </p:txBody>
      </p:sp>
      <p:sp>
        <p:nvSpPr>
          <p:cNvPr id="11" name="Rectangle 4">
            <a:extLst>
              <a:ext uri="{FF2B5EF4-FFF2-40B4-BE49-F238E27FC236}">
                <a16:creationId xmlns:a16="http://schemas.microsoft.com/office/drawing/2014/main" id="{EB9959C1-572E-459D-AE49-0FE2BC79997B}"/>
              </a:ext>
            </a:extLst>
          </p:cNvPr>
          <p:cNvSpPr>
            <a:spLocks noChangeArrowheads="1"/>
          </p:cNvSpPr>
          <p:nvPr/>
        </p:nvSpPr>
        <p:spPr bwMode="auto">
          <a:xfrm>
            <a:off x="1507786" y="1908970"/>
            <a:ext cx="9705975" cy="371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assistants like Google Assistant, Amazon Alexa, and Apple Siri have improved human–computer interaction using voice commands.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systems use speech recognition and natural language processing to understand user input and provide responses.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shows that voice-based systems increase efficiency and reduce manual effort in daily tasks.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Python-based voice assistants are widely developed using libraries such as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SpeechRecognition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pyttsx3 for speech processing.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systems are powerful but can be complex and require internet connectivity. </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building a simple, offline-capable voice assistant using Python for basic automation tasks. </a:t>
            </a:r>
          </a:p>
        </p:txBody>
      </p:sp>
    </p:spTree>
    <p:extLst>
      <p:ext uri="{BB962C8B-B14F-4D97-AF65-F5344CB8AC3E}">
        <p14:creationId xmlns:p14="http://schemas.microsoft.com/office/powerpoint/2010/main" val="1852825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A65E-E951-458C-ABB1-39643F576B63}"/>
              </a:ext>
            </a:extLst>
          </p:cNvPr>
          <p:cNvSpPr>
            <a:spLocks noGrp="1"/>
          </p:cNvSpPr>
          <p:nvPr>
            <p:ph type="title"/>
          </p:nvPr>
        </p:nvSpPr>
        <p:spPr>
          <a:xfrm>
            <a:off x="1734945" y="375233"/>
            <a:ext cx="9860902" cy="1325563"/>
          </a:xfrm>
        </p:spPr>
        <p:txBody>
          <a:bodyPr>
            <a:normAutofit/>
          </a:bodyPr>
          <a:lstStyle/>
          <a:p>
            <a:r>
              <a:rPr lang="en-US" sz="3500" b="1" dirty="0"/>
              <a:t>DRAWBACKS OF EXISTING SYSTEM</a:t>
            </a:r>
            <a:endParaRPr lang="en-US" sz="3500" dirty="0"/>
          </a:p>
        </p:txBody>
      </p:sp>
      <p:sp>
        <p:nvSpPr>
          <p:cNvPr id="3" name="Date Placeholder 2">
            <a:extLst>
              <a:ext uri="{FF2B5EF4-FFF2-40B4-BE49-F238E27FC236}">
                <a16:creationId xmlns:a16="http://schemas.microsoft.com/office/drawing/2014/main" id="{6813C5F9-6905-4B85-AF75-F5FDE2976784}"/>
              </a:ext>
            </a:extLst>
          </p:cNvPr>
          <p:cNvSpPr>
            <a:spLocks noGrp="1"/>
          </p:cNvSpPr>
          <p:nvPr>
            <p:ph type="dt" idx="10"/>
          </p:nvPr>
        </p:nvSpPr>
        <p:spPr/>
        <p:txBody>
          <a:bodyPr/>
          <a:lstStyle/>
          <a:p>
            <a:r>
              <a:rPr lang="en-US" dirty="0"/>
              <a:t>1-May-26</a:t>
            </a:r>
          </a:p>
        </p:txBody>
      </p:sp>
      <p:sp>
        <p:nvSpPr>
          <p:cNvPr id="4" name="Footer Placeholder 3">
            <a:extLst>
              <a:ext uri="{FF2B5EF4-FFF2-40B4-BE49-F238E27FC236}">
                <a16:creationId xmlns:a16="http://schemas.microsoft.com/office/drawing/2014/main" id="{AC0963DF-ED1E-4F75-9BD9-62A9014AD90A}"/>
              </a:ext>
            </a:extLst>
          </p:cNvPr>
          <p:cNvSpPr>
            <a:spLocks noGrp="1"/>
          </p:cNvSpPr>
          <p:nvPr>
            <p:ph type="ftr" idx="11"/>
          </p:nvPr>
        </p:nvSpPr>
        <p:spPr/>
        <p:txBody>
          <a:bodyPr/>
          <a:lstStyle/>
          <a:p>
            <a:r>
              <a:rPr lang="en-US" dirty="0"/>
              <a:t>Department of CSE (AI&amp;ML)</a:t>
            </a:r>
          </a:p>
        </p:txBody>
      </p:sp>
      <p:sp>
        <p:nvSpPr>
          <p:cNvPr id="5" name="Slide Number Placeholder 4">
            <a:extLst>
              <a:ext uri="{FF2B5EF4-FFF2-40B4-BE49-F238E27FC236}">
                <a16:creationId xmlns:a16="http://schemas.microsoft.com/office/drawing/2014/main" id="{413F46DE-9E00-44A1-88DF-140023E3AA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dirty="0"/>
          </a:p>
        </p:txBody>
      </p:sp>
      <p:sp>
        <p:nvSpPr>
          <p:cNvPr id="6" name="TextBox 5">
            <a:extLst>
              <a:ext uri="{FF2B5EF4-FFF2-40B4-BE49-F238E27FC236}">
                <a16:creationId xmlns:a16="http://schemas.microsoft.com/office/drawing/2014/main" id="{E44CB17B-9A43-45EC-9BF7-6DA49CAB5E30}"/>
              </a:ext>
            </a:extLst>
          </p:cNvPr>
          <p:cNvSpPr txBox="1"/>
          <p:nvPr/>
        </p:nvSpPr>
        <p:spPr>
          <a:xfrm>
            <a:off x="1894424" y="1958613"/>
            <a:ext cx="8871284" cy="371531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Relies on keyboard and mouse input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Requires continuous manual effort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Time-consuming for repetitive tasks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No voice command support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Limited automation capabilities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Less user-friendly interaction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Not suitable for hands-free usage </a:t>
            </a:r>
          </a:p>
          <a:p>
            <a:pPr marL="285750" indent="-285750">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Less accessible for physically challenged users </a:t>
            </a:r>
          </a:p>
        </p:txBody>
      </p:sp>
    </p:spTree>
    <p:extLst>
      <p:ext uri="{BB962C8B-B14F-4D97-AF65-F5344CB8AC3E}">
        <p14:creationId xmlns:p14="http://schemas.microsoft.com/office/powerpoint/2010/main" val="3475889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65166-E4C8-46BC-A41E-6CB49C6B0AC2}"/>
              </a:ext>
            </a:extLst>
          </p:cNvPr>
          <p:cNvSpPr>
            <a:spLocks noGrp="1"/>
          </p:cNvSpPr>
          <p:nvPr>
            <p:ph type="title"/>
          </p:nvPr>
        </p:nvSpPr>
        <p:spPr>
          <a:xfrm>
            <a:off x="1717015" y="768536"/>
            <a:ext cx="9860902" cy="1325563"/>
          </a:xfrm>
        </p:spPr>
        <p:txBody>
          <a:bodyPr>
            <a:normAutofit/>
          </a:bodyPr>
          <a:lstStyle/>
          <a:p>
            <a:r>
              <a:rPr lang="en-US" sz="3500" b="1" dirty="0"/>
              <a:t>PROPOSED SYSTEM</a:t>
            </a:r>
            <a:br>
              <a:rPr lang="en-US" sz="3500" b="1" dirty="0"/>
            </a:br>
            <a:endParaRPr lang="en-US" sz="3500" dirty="0"/>
          </a:p>
        </p:txBody>
      </p:sp>
      <p:sp>
        <p:nvSpPr>
          <p:cNvPr id="3" name="Date Placeholder 2">
            <a:extLst>
              <a:ext uri="{FF2B5EF4-FFF2-40B4-BE49-F238E27FC236}">
                <a16:creationId xmlns:a16="http://schemas.microsoft.com/office/drawing/2014/main" id="{F7DC8514-86FF-45C1-A9F7-E2C11DBE5F9D}"/>
              </a:ext>
            </a:extLst>
          </p:cNvPr>
          <p:cNvSpPr>
            <a:spLocks noGrp="1"/>
          </p:cNvSpPr>
          <p:nvPr>
            <p:ph type="dt" idx="10"/>
          </p:nvPr>
        </p:nvSpPr>
        <p:spPr/>
        <p:txBody>
          <a:bodyPr/>
          <a:lstStyle/>
          <a:p>
            <a:r>
              <a:rPr lang="en-US" dirty="0"/>
              <a:t>1-May-26</a:t>
            </a:r>
          </a:p>
        </p:txBody>
      </p:sp>
      <p:sp>
        <p:nvSpPr>
          <p:cNvPr id="4" name="Footer Placeholder 3">
            <a:extLst>
              <a:ext uri="{FF2B5EF4-FFF2-40B4-BE49-F238E27FC236}">
                <a16:creationId xmlns:a16="http://schemas.microsoft.com/office/drawing/2014/main" id="{4CD8BF51-AACE-4C8D-BA66-5D05D568A01C}"/>
              </a:ext>
            </a:extLst>
          </p:cNvPr>
          <p:cNvSpPr>
            <a:spLocks noGrp="1"/>
          </p:cNvSpPr>
          <p:nvPr>
            <p:ph type="ftr" idx="11"/>
          </p:nvPr>
        </p:nvSpPr>
        <p:spPr/>
        <p:txBody>
          <a:bodyPr/>
          <a:lstStyle/>
          <a:p>
            <a:r>
              <a:rPr lang="en-US" dirty="0"/>
              <a:t>Department of CSE (AI&amp;ML)</a:t>
            </a:r>
          </a:p>
        </p:txBody>
      </p:sp>
      <p:sp>
        <p:nvSpPr>
          <p:cNvPr id="5" name="Slide Number Placeholder 4">
            <a:extLst>
              <a:ext uri="{FF2B5EF4-FFF2-40B4-BE49-F238E27FC236}">
                <a16:creationId xmlns:a16="http://schemas.microsoft.com/office/drawing/2014/main" id="{FF498F4F-B507-472A-93F1-2F7A759645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dirty="0"/>
          </a:p>
        </p:txBody>
      </p:sp>
      <p:sp>
        <p:nvSpPr>
          <p:cNvPr id="7" name="Rectangle 1">
            <a:extLst>
              <a:ext uri="{FF2B5EF4-FFF2-40B4-BE49-F238E27FC236}">
                <a16:creationId xmlns:a16="http://schemas.microsoft.com/office/drawing/2014/main" id="{17CA1B85-CFE5-485B-AFC2-E125CDC93095}"/>
              </a:ext>
            </a:extLst>
          </p:cNvPr>
          <p:cNvSpPr>
            <a:spLocks noChangeArrowheads="1"/>
          </p:cNvSpPr>
          <p:nvPr/>
        </p:nvSpPr>
        <p:spPr bwMode="auto">
          <a:xfrm>
            <a:off x="2110593" y="2094099"/>
            <a:ext cx="4950394" cy="371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Uses voice commands for interaction</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Converts speech into text using speech recognition</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Processes commands using Python logic</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Executes tasks automatically (open apps, search info, etc.)</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Converts output into speech using text-to-speech</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Provides faster, easier, and user-friendly experience</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Lightweight and cost-effective system</a:t>
            </a:r>
            <a:br>
              <a:rPr lang="en-US" sz="1500" dirty="0">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140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30353-01EE-21B0-4537-AEC8F5A8BBBE}"/>
              </a:ext>
            </a:extLst>
          </p:cNvPr>
          <p:cNvSpPr>
            <a:spLocks noGrp="1"/>
          </p:cNvSpPr>
          <p:nvPr>
            <p:ph type="title"/>
          </p:nvPr>
        </p:nvSpPr>
        <p:spPr>
          <a:xfrm>
            <a:off x="1663228" y="318877"/>
            <a:ext cx="9587478" cy="1325563"/>
          </a:xfrm>
        </p:spPr>
        <p:txBody>
          <a:bodyPr>
            <a:normAutofit/>
          </a:bodyPr>
          <a:lstStyle/>
          <a:p>
            <a:r>
              <a:rPr lang="en-US" sz="3500" b="1" dirty="0"/>
              <a:t>SOFTWARE AND HARDWARE REQUIREMENTS</a:t>
            </a:r>
            <a:endParaRPr lang="en-IN" sz="3500" b="1" dirty="0"/>
          </a:p>
        </p:txBody>
      </p:sp>
      <p:sp>
        <p:nvSpPr>
          <p:cNvPr id="6" name="Date Placeholder 5"/>
          <p:cNvSpPr>
            <a:spLocks noGrp="1"/>
          </p:cNvSpPr>
          <p:nvPr>
            <p:ph type="dt" idx="10"/>
          </p:nvPr>
        </p:nvSpPr>
        <p:spPr/>
        <p:txBody>
          <a:bodyPr/>
          <a:lstStyle/>
          <a:p>
            <a:r>
              <a:rPr lang="en-US" dirty="0"/>
              <a:t>1-May-26</a:t>
            </a:r>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
        <p:nvSpPr>
          <p:cNvPr id="8" name="Footer Placeholder 7"/>
          <p:cNvSpPr>
            <a:spLocks noGrp="1"/>
          </p:cNvSpPr>
          <p:nvPr>
            <p:ph type="ftr" idx="11"/>
          </p:nvPr>
        </p:nvSpPr>
        <p:spPr/>
        <p:txBody>
          <a:bodyPr/>
          <a:lstStyle/>
          <a:p>
            <a:r>
              <a:rPr lang="en-US" dirty="0"/>
              <a:t>Department of CSE </a:t>
            </a:r>
          </a:p>
        </p:txBody>
      </p:sp>
      <p:graphicFrame>
        <p:nvGraphicFramePr>
          <p:cNvPr id="3" name="Table 2">
            <a:extLst>
              <a:ext uri="{FF2B5EF4-FFF2-40B4-BE49-F238E27FC236}">
                <a16:creationId xmlns:a16="http://schemas.microsoft.com/office/drawing/2014/main" id="{CED5002D-ADFB-45E0-A699-D3EDBC3AABD9}"/>
              </a:ext>
            </a:extLst>
          </p:cNvPr>
          <p:cNvGraphicFramePr>
            <a:graphicFrameLocks noGrp="1"/>
          </p:cNvGraphicFramePr>
          <p:nvPr>
            <p:extLst>
              <p:ext uri="{D42A27DB-BD31-4B8C-83A1-F6EECF244321}">
                <p14:modId xmlns:p14="http://schemas.microsoft.com/office/powerpoint/2010/main" val="4011282413"/>
              </p:ext>
            </p:extLst>
          </p:nvPr>
        </p:nvGraphicFramePr>
        <p:xfrm>
          <a:off x="2429437" y="2365233"/>
          <a:ext cx="7153834" cy="2578242"/>
        </p:xfrm>
        <a:graphic>
          <a:graphicData uri="http://schemas.openxmlformats.org/drawingml/2006/table">
            <a:tbl>
              <a:tblPr firstRow="1" bandRow="1"/>
              <a:tblGrid>
                <a:gridCol w="3643030">
                  <a:extLst>
                    <a:ext uri="{9D8B030D-6E8A-4147-A177-3AD203B41FA5}">
                      <a16:colId xmlns:a16="http://schemas.microsoft.com/office/drawing/2014/main" val="645009378"/>
                    </a:ext>
                  </a:extLst>
                </a:gridCol>
                <a:gridCol w="3510804">
                  <a:extLst>
                    <a:ext uri="{9D8B030D-6E8A-4147-A177-3AD203B41FA5}">
                      <a16:colId xmlns:a16="http://schemas.microsoft.com/office/drawing/2014/main" val="3521696280"/>
                    </a:ext>
                  </a:extLst>
                </a:gridCol>
              </a:tblGrid>
              <a:tr h="2578242">
                <a:tc>
                  <a:txBody>
                    <a:bodyPr/>
                    <a:lstStyle/>
                    <a:p>
                      <a:pPr marL="152400" indent="0">
                        <a:buNone/>
                      </a:pPr>
                      <a:r>
                        <a:rPr lang="en-US" sz="1800" b="1" dirty="0">
                          <a:latin typeface="Times New Roman" panose="02020603050405020304" pitchFamily="18" charset="0"/>
                          <a:cs typeface="Times New Roman" panose="02020603050405020304" pitchFamily="18" charset="0"/>
                        </a:rPr>
                        <a:t>Software Requirements</a:t>
                      </a:r>
                    </a:p>
                    <a:p>
                      <a:pPr marL="152400" indent="0">
                        <a:buNone/>
                      </a:pPr>
                      <a:endParaRPr lang="en-US" sz="14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i="1" dirty="0">
                          <a:latin typeface="Times New Roman" panose="02020603050405020304" pitchFamily="18" charset="0"/>
                          <a:cs typeface="Times New Roman" panose="02020603050405020304" pitchFamily="18" charset="0"/>
                        </a:rPr>
                        <a:t>Operating System</a:t>
                      </a:r>
                      <a:r>
                        <a:rPr lang="en-US" sz="1400" dirty="0">
                          <a:latin typeface="Times New Roman" panose="02020603050405020304" pitchFamily="18" charset="0"/>
                          <a:cs typeface="Times New Roman" panose="02020603050405020304" pitchFamily="18" charset="0"/>
                        </a:rPr>
                        <a:t>: Windows</a:t>
                      </a:r>
                    </a:p>
                    <a:p>
                      <a:pPr marL="285750" indent="-285750">
                        <a:lnSpc>
                          <a:spcPct val="150000"/>
                        </a:lnSpc>
                        <a:buFont typeface="Arial" panose="020B0604020202020204" pitchFamily="34" charset="0"/>
                        <a:buChar char="•"/>
                      </a:pPr>
                      <a:r>
                        <a:rPr lang="en-US" sz="1400" i="1" dirty="0">
                          <a:latin typeface="Times New Roman" panose="02020603050405020304" pitchFamily="18" charset="0"/>
                          <a:cs typeface="Times New Roman" panose="02020603050405020304" pitchFamily="18" charset="0"/>
                        </a:rPr>
                        <a:t>Programming Language</a:t>
                      </a:r>
                      <a:r>
                        <a:rPr lang="en-US" sz="1400" dirty="0">
                          <a:latin typeface="Times New Roman" panose="02020603050405020304" pitchFamily="18" charset="0"/>
                          <a:cs typeface="Times New Roman" panose="02020603050405020304" pitchFamily="18" charset="0"/>
                        </a:rPr>
                        <a:t>: Python</a:t>
                      </a:r>
                    </a:p>
                    <a:p>
                      <a:pPr marL="285750" indent="-285750">
                        <a:lnSpc>
                          <a:spcPct val="150000"/>
                        </a:lnSpc>
                        <a:buFont typeface="Arial" panose="020B0604020202020204" pitchFamily="34" charset="0"/>
                        <a:buChar char="•"/>
                      </a:pPr>
                      <a:r>
                        <a:rPr lang="en-US" sz="1400" i="1" dirty="0">
                          <a:latin typeface="Times New Roman" panose="02020603050405020304" pitchFamily="18" charset="0"/>
                          <a:cs typeface="Times New Roman" panose="02020603050405020304" pitchFamily="18" charset="0"/>
                        </a:rPr>
                        <a:t>Libraries</a:t>
                      </a:r>
                      <a:r>
                        <a:rPr lang="en-US" sz="1400" dirty="0">
                          <a:latin typeface="Times New Roman" panose="02020603050405020304" pitchFamily="18" charset="0"/>
                          <a:cs typeface="Times New Roman" panose="02020603050405020304" pitchFamily="18" charset="0"/>
                        </a:rPr>
                        <a:t>: pyttsx3 , Speech                       </a:t>
                      </a:r>
                    </a:p>
                    <a:p>
                      <a:pPr marL="0" indent="0">
                        <a:lnSpc>
                          <a:spcPct val="150000"/>
                        </a:lnSpc>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     Recognition, Wikipedia  </a:t>
                      </a:r>
                    </a:p>
                    <a:p>
                      <a:pPr marL="285750" indent="-285750">
                        <a:lnSpc>
                          <a:spcPct val="150000"/>
                        </a:lnSpc>
                        <a:buFont typeface="Arial" panose="020B0604020202020204" pitchFamily="34" charset="0"/>
                        <a:buChar char="•"/>
                      </a:pPr>
                      <a:r>
                        <a:rPr lang="en-US" sz="1400" i="1" dirty="0">
                          <a:latin typeface="Times New Roman" panose="02020603050405020304" pitchFamily="18" charset="0"/>
                          <a:cs typeface="Times New Roman" panose="02020603050405020304" pitchFamily="18" charset="0"/>
                        </a:rPr>
                        <a:t>IDE</a:t>
                      </a:r>
                      <a:r>
                        <a:rPr lang="en-US" sz="1400" dirty="0">
                          <a:latin typeface="Times New Roman" panose="02020603050405020304" pitchFamily="18" charset="0"/>
                          <a:cs typeface="Times New Roman" panose="02020603050405020304" pitchFamily="18" charset="0"/>
                        </a:rPr>
                        <a:t>: VS Code </a:t>
                      </a:r>
                    </a:p>
                    <a:p>
                      <a:pPr marL="0" lvl="0" indent="0" algn="l" rtl="0">
                        <a:spcBef>
                          <a:spcPts val="0"/>
                        </a:spcBef>
                        <a:spcAft>
                          <a:spcPts val="0"/>
                        </a:spcAft>
                        <a:buNone/>
                      </a:pPr>
                      <a:endParaRPr lang="en-US" sz="1400" dirty="0">
                        <a:solidFill>
                          <a:schemeClr val="dk1"/>
                        </a:solidFill>
                        <a:latin typeface="Times New Roman" panose="02020603050405020304" pitchFamily="18" charset="0"/>
                        <a:cs typeface="Times New Roman" panose="02020603050405020304" pitchFamily="18" charset="0"/>
                      </a:endParaRPr>
                    </a:p>
                  </a:txBody>
                  <a:tcPr/>
                </a:tc>
                <a:tc>
                  <a:txBody>
                    <a:bodyPr/>
                    <a:lstStyle/>
                    <a:p>
                      <a:pPr marL="152400" indent="0">
                        <a:buNone/>
                      </a:pPr>
                      <a:r>
                        <a:rPr lang="en-US" sz="1800" b="1" dirty="0">
                          <a:latin typeface="Times New Roman" panose="02020603050405020304" pitchFamily="18" charset="0"/>
                          <a:cs typeface="Times New Roman" panose="02020603050405020304" pitchFamily="18" charset="0"/>
                        </a:rPr>
                        <a:t>Hardware Requirements</a:t>
                      </a:r>
                    </a:p>
                    <a:p>
                      <a:pPr marL="152400" indent="0">
                        <a:buNone/>
                      </a:pPr>
                      <a:endParaRPr lang="en-US" b="1"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Computer or Laptop</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Microphone or Headset</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Internet connection </a:t>
                      </a:r>
                    </a:p>
                    <a:p>
                      <a:pPr marL="0" indent="0">
                        <a:lnSpc>
                          <a:spcPct val="200000"/>
                        </a:lnSpc>
                        <a:buFont typeface="Arial" panose="020B0604020202020204" pitchFamily="34" charset="0"/>
                        <a:buNone/>
                      </a:pPr>
                      <a:r>
                        <a:rPr lang="en-US" dirty="0">
                          <a:latin typeface="Times New Roman" panose="02020603050405020304" pitchFamily="18" charset="0"/>
                          <a:cs typeface="Times New Roman" panose="02020603050405020304" pitchFamily="18" charset="0"/>
                        </a:rPr>
                        <a:t>    (for speech recognition)</a:t>
                      </a:r>
                    </a:p>
                    <a:p>
                      <a:pPr marL="0" lvl="0" indent="0" algn="l" rtl="0">
                        <a:spcBef>
                          <a:spcPts val="0"/>
                        </a:spcBef>
                        <a:spcAft>
                          <a:spcPts val="0"/>
                        </a:spcAft>
                        <a:buNone/>
                      </a:pPr>
                      <a:endParaRPr lang="en-US" dirty="0">
                        <a:solidFill>
                          <a:schemeClr val="dk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1687664"/>
                  </a:ext>
                </a:extLst>
              </a:tr>
            </a:tbl>
          </a:graphicData>
        </a:graphic>
      </p:graphicFrame>
    </p:spTree>
    <p:extLst>
      <p:ext uri="{BB962C8B-B14F-4D97-AF65-F5344CB8AC3E}">
        <p14:creationId xmlns:p14="http://schemas.microsoft.com/office/powerpoint/2010/main" val="3788363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45852-6973-9246-A424-A8DF1C461E63}"/>
              </a:ext>
            </a:extLst>
          </p:cNvPr>
          <p:cNvSpPr>
            <a:spLocks noGrp="1"/>
          </p:cNvSpPr>
          <p:nvPr>
            <p:ph type="title"/>
          </p:nvPr>
        </p:nvSpPr>
        <p:spPr>
          <a:xfrm>
            <a:off x="1663227" y="362516"/>
            <a:ext cx="9860902" cy="1325563"/>
          </a:xfrm>
        </p:spPr>
        <p:txBody>
          <a:bodyPr>
            <a:normAutofit/>
          </a:bodyPr>
          <a:lstStyle/>
          <a:p>
            <a:r>
              <a:rPr lang="en-US" sz="3500" b="1" dirty="0"/>
              <a:t>MODULES</a:t>
            </a:r>
            <a:endParaRPr lang="en-IN" sz="3500" b="1" dirty="0"/>
          </a:p>
        </p:txBody>
      </p:sp>
      <p:sp>
        <p:nvSpPr>
          <p:cNvPr id="6" name="Date Placeholder 5"/>
          <p:cNvSpPr>
            <a:spLocks noGrp="1"/>
          </p:cNvSpPr>
          <p:nvPr>
            <p:ph type="dt" idx="10"/>
          </p:nvPr>
        </p:nvSpPr>
        <p:spPr/>
        <p:txBody>
          <a:bodyPr/>
          <a:lstStyle/>
          <a:p>
            <a:r>
              <a:rPr lang="en-US" dirty="0"/>
              <a:t>1-May-26</a:t>
            </a:r>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
        <p:nvSpPr>
          <p:cNvPr id="8" name="Footer Placeholder 7"/>
          <p:cNvSpPr>
            <a:spLocks noGrp="1"/>
          </p:cNvSpPr>
          <p:nvPr>
            <p:ph type="ftr" idx="11"/>
          </p:nvPr>
        </p:nvSpPr>
        <p:spPr/>
        <p:txBody>
          <a:bodyPr/>
          <a:lstStyle/>
          <a:p>
            <a:r>
              <a:rPr lang="en-US" dirty="0"/>
              <a:t>Department of CSE </a:t>
            </a:r>
          </a:p>
        </p:txBody>
      </p:sp>
      <p:sp>
        <p:nvSpPr>
          <p:cNvPr id="3" name="TextBox 2">
            <a:extLst>
              <a:ext uri="{FF2B5EF4-FFF2-40B4-BE49-F238E27FC236}">
                <a16:creationId xmlns:a16="http://schemas.microsoft.com/office/drawing/2014/main" id="{FE866144-83B7-4967-9EA5-9CCC42A31DC4}"/>
              </a:ext>
            </a:extLst>
          </p:cNvPr>
          <p:cNvSpPr txBox="1"/>
          <p:nvPr/>
        </p:nvSpPr>
        <p:spPr>
          <a:xfrm>
            <a:off x="1214009" y="1688079"/>
            <a:ext cx="10054625" cy="4638642"/>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system is divided into different modules for better functionality:</a:t>
            </a:r>
          </a:p>
          <a:p>
            <a:pPr algn="just" fontAlgn="base">
              <a:lnSpc>
                <a:spcPct val="200000"/>
              </a:lnSpc>
            </a:pPr>
            <a:r>
              <a:rPr lang="en-US" sz="1500" b="1" dirty="0">
                <a:latin typeface="Times New Roman" panose="02020603050405020304" pitchFamily="18" charset="0"/>
                <a:cs typeface="Times New Roman" panose="02020603050405020304" pitchFamily="18" charset="0"/>
              </a:rPr>
              <a:t>	Voice Input Module:</a:t>
            </a:r>
            <a:r>
              <a:rPr lang="en-US" sz="1500" dirty="0">
                <a:latin typeface="Times New Roman" panose="02020603050405020304" pitchFamily="18" charset="0"/>
                <a:cs typeface="Times New Roman" panose="02020603050405020304" pitchFamily="18" charset="0"/>
              </a:rPr>
              <a:t> Captures user voice using microphone</a:t>
            </a:r>
          </a:p>
          <a:p>
            <a:pPr algn="just" fontAlgn="base">
              <a:lnSpc>
                <a:spcPct val="200000"/>
              </a:lnSpc>
            </a:pPr>
            <a:r>
              <a:rPr lang="en-US" sz="1500" b="1" dirty="0">
                <a:latin typeface="Times New Roman" panose="02020603050405020304" pitchFamily="18" charset="0"/>
                <a:cs typeface="Times New Roman" panose="02020603050405020304" pitchFamily="18" charset="0"/>
              </a:rPr>
              <a:t>	Speech Recognition Module:</a:t>
            </a:r>
            <a:r>
              <a:rPr lang="en-US" sz="1500" dirty="0">
                <a:latin typeface="Times New Roman" panose="02020603050405020304" pitchFamily="18" charset="0"/>
                <a:cs typeface="Times New Roman" panose="02020603050405020304" pitchFamily="18" charset="0"/>
              </a:rPr>
              <a:t> Converts voice into text</a:t>
            </a:r>
          </a:p>
          <a:p>
            <a:pPr algn="just" fontAlgn="base">
              <a:lnSpc>
                <a:spcPct val="200000"/>
              </a:lnSpc>
            </a:pPr>
            <a:r>
              <a:rPr lang="en-US" sz="1500" b="1" dirty="0">
                <a:latin typeface="Times New Roman" panose="02020603050405020304" pitchFamily="18" charset="0"/>
                <a:cs typeface="Times New Roman" panose="02020603050405020304" pitchFamily="18" charset="0"/>
              </a:rPr>
              <a:t>	Command Processing Module:</a:t>
            </a:r>
            <a:r>
              <a:rPr lang="en-US" sz="1500" dirty="0">
                <a:latin typeface="Times New Roman" panose="02020603050405020304" pitchFamily="18" charset="0"/>
                <a:cs typeface="Times New Roman" panose="02020603050405020304" pitchFamily="18" charset="0"/>
              </a:rPr>
              <a:t> Analyzes command using Python logic</a:t>
            </a:r>
          </a:p>
          <a:p>
            <a:pPr algn="just" fontAlgn="base">
              <a:lnSpc>
                <a:spcPct val="200000"/>
              </a:lnSpc>
            </a:pPr>
            <a:r>
              <a:rPr lang="en-US" sz="1500" b="1" dirty="0">
                <a:latin typeface="Times New Roman" panose="02020603050405020304" pitchFamily="18" charset="0"/>
                <a:cs typeface="Times New Roman" panose="02020603050405020304" pitchFamily="18" charset="0"/>
              </a:rPr>
              <a:t>	Task Execution Module:</a:t>
            </a:r>
            <a:r>
              <a:rPr lang="en-US" sz="1500" dirty="0">
                <a:latin typeface="Times New Roman" panose="02020603050405020304" pitchFamily="18" charset="0"/>
                <a:cs typeface="Times New Roman" panose="02020603050405020304" pitchFamily="18" charset="0"/>
              </a:rPr>
              <a:t> Performs required actions</a:t>
            </a:r>
          </a:p>
          <a:p>
            <a:pPr algn="just" fontAlgn="base">
              <a:lnSpc>
                <a:spcPct val="200000"/>
              </a:lnSpc>
            </a:pPr>
            <a:r>
              <a:rPr lang="en-US" sz="1500" b="1" dirty="0">
                <a:latin typeface="Times New Roman" panose="02020603050405020304" pitchFamily="18" charset="0"/>
                <a:cs typeface="Times New Roman" panose="02020603050405020304" pitchFamily="18" charset="0"/>
              </a:rPr>
              <a:t>	Voice Output Module:</a:t>
            </a:r>
            <a:r>
              <a:rPr lang="en-US" sz="1500" dirty="0">
                <a:latin typeface="Times New Roman" panose="02020603050405020304" pitchFamily="18" charset="0"/>
                <a:cs typeface="Times New Roman" panose="02020603050405020304" pitchFamily="18" charset="0"/>
              </a:rPr>
              <a:t> Converts response into speech</a:t>
            </a:r>
          </a:p>
          <a:p>
            <a:pPr algn="just" fontAlgn="base">
              <a:lnSpc>
                <a:spcPct val="200000"/>
              </a:lnSpc>
            </a:pPr>
            <a:endParaRPr lang="en-US" sz="1500"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This modular design improves flexibility and scalability.</a:t>
            </a:r>
          </a:p>
          <a:p>
            <a:pPr algn="just">
              <a:lnSpc>
                <a:spcPct val="200000"/>
              </a:lnSpc>
            </a:pPr>
            <a:br>
              <a:rPr lang="en-US" sz="1500" dirty="0">
                <a:latin typeface="Times New Roman" panose="02020603050405020304" pitchFamily="18" charset="0"/>
                <a:cs typeface="Times New Roman" panose="02020603050405020304" pitchFamily="18" charset="0"/>
              </a:rPr>
            </a:b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031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9D3B2-E973-23DD-4367-74123EC64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83401-A95F-0F5E-7414-BBBF8F8CB970}"/>
              </a:ext>
            </a:extLst>
          </p:cNvPr>
          <p:cNvSpPr>
            <a:spLocks noGrp="1"/>
          </p:cNvSpPr>
          <p:nvPr>
            <p:ph type="title"/>
          </p:nvPr>
        </p:nvSpPr>
        <p:spPr>
          <a:xfrm>
            <a:off x="1645298" y="377273"/>
            <a:ext cx="9860902" cy="1325563"/>
          </a:xfrm>
        </p:spPr>
        <p:txBody>
          <a:bodyPr>
            <a:normAutofit/>
          </a:bodyPr>
          <a:lstStyle/>
          <a:p>
            <a:r>
              <a:rPr lang="en-US" sz="3500" b="1" dirty="0"/>
              <a:t>ARCHITECTURE </a:t>
            </a:r>
            <a:endParaRPr lang="en-IN" sz="3500" b="1" dirty="0"/>
          </a:p>
        </p:txBody>
      </p:sp>
      <p:sp>
        <p:nvSpPr>
          <p:cNvPr id="6" name="Date Placeholder 5"/>
          <p:cNvSpPr>
            <a:spLocks noGrp="1"/>
          </p:cNvSpPr>
          <p:nvPr>
            <p:ph type="dt" idx="10"/>
          </p:nvPr>
        </p:nvSpPr>
        <p:spPr/>
        <p:txBody>
          <a:bodyPr/>
          <a:lstStyle/>
          <a:p>
            <a:r>
              <a:rPr lang="en-US" dirty="0"/>
              <a:t>1-May-26</a:t>
            </a:r>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
        <p:nvSpPr>
          <p:cNvPr id="8" name="Footer Placeholder 7"/>
          <p:cNvSpPr>
            <a:spLocks noGrp="1"/>
          </p:cNvSpPr>
          <p:nvPr>
            <p:ph type="ftr" idx="11"/>
          </p:nvPr>
        </p:nvSpPr>
        <p:spPr/>
        <p:txBody>
          <a:bodyPr/>
          <a:lstStyle/>
          <a:p>
            <a:r>
              <a:rPr lang="en-US" dirty="0"/>
              <a:t>Department of CSE </a:t>
            </a:r>
          </a:p>
        </p:txBody>
      </p:sp>
      <p:pic>
        <p:nvPicPr>
          <p:cNvPr id="9" name="Picture 8">
            <a:extLst>
              <a:ext uri="{FF2B5EF4-FFF2-40B4-BE49-F238E27FC236}">
                <a16:creationId xmlns:a16="http://schemas.microsoft.com/office/drawing/2014/main" id="{8F77D91B-0A4C-4231-AC1C-B27E6EE3D3F1}"/>
              </a:ext>
            </a:extLst>
          </p:cNvPr>
          <p:cNvPicPr>
            <a:picLocks noChangeAspect="1"/>
          </p:cNvPicPr>
          <p:nvPr/>
        </p:nvPicPr>
        <p:blipFill rotWithShape="1">
          <a:blip r:embed="rId2"/>
          <a:srcRect l="1558" t="1653" r="17487" b="3492"/>
          <a:stretch/>
        </p:blipFill>
        <p:spPr>
          <a:xfrm>
            <a:off x="8368553" y="1808475"/>
            <a:ext cx="2828135" cy="4807361"/>
          </a:xfrm>
          <a:prstGeom prst="rect">
            <a:avLst/>
          </a:prstGeom>
        </p:spPr>
      </p:pic>
      <p:sp>
        <p:nvSpPr>
          <p:cNvPr id="3" name="TextBox 2">
            <a:extLst>
              <a:ext uri="{FF2B5EF4-FFF2-40B4-BE49-F238E27FC236}">
                <a16:creationId xmlns:a16="http://schemas.microsoft.com/office/drawing/2014/main" id="{CD68E12B-EF04-48DB-8392-2298BB0E00E0}"/>
              </a:ext>
            </a:extLst>
          </p:cNvPr>
          <p:cNvSpPr txBox="1"/>
          <p:nvPr/>
        </p:nvSpPr>
        <p:spPr>
          <a:xfrm>
            <a:off x="2209800" y="1935030"/>
            <a:ext cx="5611906" cy="4176977"/>
          </a:xfrm>
          <a:prstGeom prst="rect">
            <a:avLst/>
          </a:prstGeom>
          <a:noFill/>
        </p:spPr>
        <p:txBody>
          <a:bodyPr wrap="square" rtlCol="0">
            <a:spAutoFit/>
          </a:bodyPr>
          <a:lstStyle/>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User gives voice input</a:t>
            </a:r>
          </a:p>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Microphone captures audio</a:t>
            </a:r>
          </a:p>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Speech Recognition converts audio</a:t>
            </a:r>
          </a:p>
          <a:p>
            <a:pPr lvl="0" algn="just" eaLnBrk="0" fontAlgn="base" hangingPunct="0">
              <a:lnSpc>
                <a:spcPct val="200000"/>
              </a:lnSpc>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    to text</a:t>
            </a:r>
          </a:p>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Python logic processes the command</a:t>
            </a:r>
          </a:p>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Required action is performed</a:t>
            </a:r>
          </a:p>
          <a:p>
            <a:pPr marL="285750" lvl="0" indent="-285750" algn="just" eaLnBrk="0" fontAlgn="base" hangingPunct="0">
              <a:lnSpc>
                <a:spcPct val="200000"/>
              </a:lnSpc>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pyttsx3 converts response text into </a:t>
            </a:r>
          </a:p>
          <a:p>
            <a:pPr lvl="0" algn="just" eaLnBrk="0" fontAlgn="base" hangingPunct="0">
              <a:lnSpc>
                <a:spcPct val="200000"/>
              </a:lnSpc>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    speech</a:t>
            </a:r>
          </a:p>
          <a:p>
            <a:pPr algn="just">
              <a:lnSpc>
                <a:spcPct val="200000"/>
              </a:lnSpc>
            </a:pP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5994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9D3B2-E973-23DD-4367-74123EC64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783401-A95F-0F5E-7414-BBBF8F8CB970}"/>
              </a:ext>
            </a:extLst>
          </p:cNvPr>
          <p:cNvSpPr>
            <a:spLocks noGrp="1"/>
          </p:cNvSpPr>
          <p:nvPr>
            <p:ph type="title"/>
          </p:nvPr>
        </p:nvSpPr>
        <p:spPr/>
        <p:txBody>
          <a:bodyPr>
            <a:normAutofit/>
          </a:bodyPr>
          <a:lstStyle/>
          <a:p>
            <a:r>
              <a:rPr lang="en-US" sz="3500" b="1" dirty="0"/>
              <a:t>ARCHITECTURE </a:t>
            </a:r>
            <a:endParaRPr lang="en-IN" sz="3500" b="1" dirty="0"/>
          </a:p>
        </p:txBody>
      </p:sp>
      <p:sp>
        <p:nvSpPr>
          <p:cNvPr id="6" name="Date Placeholder 5"/>
          <p:cNvSpPr>
            <a:spLocks noGrp="1"/>
          </p:cNvSpPr>
          <p:nvPr>
            <p:ph type="dt" idx="10"/>
          </p:nvPr>
        </p:nvSpPr>
        <p:spPr/>
        <p:txBody>
          <a:bodyPr/>
          <a:lstStyle/>
          <a:p>
            <a:r>
              <a:rPr lang="en-US" dirty="0"/>
              <a:t>1-May-26</a:t>
            </a:r>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
        <p:nvSpPr>
          <p:cNvPr id="8" name="Footer Placeholder 7"/>
          <p:cNvSpPr>
            <a:spLocks noGrp="1"/>
          </p:cNvSpPr>
          <p:nvPr>
            <p:ph type="ftr" idx="11"/>
          </p:nvPr>
        </p:nvSpPr>
        <p:spPr/>
        <p:txBody>
          <a:bodyPr/>
          <a:lstStyle/>
          <a:p>
            <a:r>
              <a:rPr lang="en-US" dirty="0"/>
              <a:t>Department of CSE </a:t>
            </a:r>
          </a:p>
        </p:txBody>
      </p:sp>
      <p:pic>
        <p:nvPicPr>
          <p:cNvPr id="11" name="Picture 10">
            <a:extLst>
              <a:ext uri="{FF2B5EF4-FFF2-40B4-BE49-F238E27FC236}">
                <a16:creationId xmlns:a16="http://schemas.microsoft.com/office/drawing/2014/main" id="{460594D9-F607-4861-AD42-3EB775624EB0}"/>
              </a:ext>
            </a:extLst>
          </p:cNvPr>
          <p:cNvPicPr>
            <a:picLocks noChangeAspect="1"/>
          </p:cNvPicPr>
          <p:nvPr/>
        </p:nvPicPr>
        <p:blipFill rotWithShape="1">
          <a:blip r:embed="rId2"/>
          <a:srcRect l="1195" t="13944" r="2060" b="3539"/>
          <a:stretch/>
        </p:blipFill>
        <p:spPr>
          <a:xfrm>
            <a:off x="2896366" y="2244899"/>
            <a:ext cx="6255834" cy="3557239"/>
          </a:xfrm>
          <a:prstGeom prst="rect">
            <a:avLst/>
          </a:prstGeom>
        </p:spPr>
      </p:pic>
    </p:spTree>
    <p:extLst>
      <p:ext uri="{BB962C8B-B14F-4D97-AF65-F5344CB8AC3E}">
        <p14:creationId xmlns:p14="http://schemas.microsoft.com/office/powerpoint/2010/main" val="685494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E39A-0F9E-867C-DE69-F63054ABF9E4}"/>
              </a:ext>
            </a:extLst>
          </p:cNvPr>
          <p:cNvSpPr>
            <a:spLocks noGrp="1"/>
          </p:cNvSpPr>
          <p:nvPr>
            <p:ph type="title"/>
          </p:nvPr>
        </p:nvSpPr>
        <p:spPr>
          <a:xfrm>
            <a:off x="1681436" y="521760"/>
            <a:ext cx="9860902" cy="1325563"/>
          </a:xfrm>
        </p:spPr>
        <p:txBody>
          <a:bodyPr>
            <a:normAutofit/>
          </a:bodyPr>
          <a:lstStyle/>
          <a:p>
            <a:r>
              <a:rPr lang="en-US" sz="3500" b="1" dirty="0"/>
              <a:t>UML DIAGRAMS (USE CASE)</a:t>
            </a:r>
            <a:endParaRPr lang="en-IN" sz="3500" b="1" dirty="0"/>
          </a:p>
        </p:txBody>
      </p:sp>
      <p:sp>
        <p:nvSpPr>
          <p:cNvPr id="4" name="Slide Number Placeholder 3">
            <a:extLst>
              <a:ext uri="{FF2B5EF4-FFF2-40B4-BE49-F238E27FC236}">
                <a16:creationId xmlns:a16="http://schemas.microsoft.com/office/drawing/2014/main" id="{2A307033-B80C-4A82-195F-E9E8866C93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
        <p:nvSpPr>
          <p:cNvPr id="3" name="AutoShape 4" descr="Welcome to Base44 - Base44 Support Documentation">
            <a:extLst>
              <a:ext uri="{FF2B5EF4-FFF2-40B4-BE49-F238E27FC236}">
                <a16:creationId xmlns:a16="http://schemas.microsoft.com/office/drawing/2014/main" id="{4F5AA797-6733-60E5-C97B-2F37B82F1A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Welcome to Base44 - Base44 Support Documentation">
            <a:extLst>
              <a:ext uri="{FF2B5EF4-FFF2-40B4-BE49-F238E27FC236}">
                <a16:creationId xmlns:a16="http://schemas.microsoft.com/office/drawing/2014/main" id="{69E3CCCC-DB04-E1B4-9827-8448B639EAE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Welcome to Base44 - Base44 Support Documentation">
            <a:extLst>
              <a:ext uri="{FF2B5EF4-FFF2-40B4-BE49-F238E27FC236}">
                <a16:creationId xmlns:a16="http://schemas.microsoft.com/office/drawing/2014/main" id="{A061CBE9-A73F-40F7-8F03-6B6C83941668}"/>
              </a:ext>
            </a:extLst>
          </p:cNvPr>
          <p:cNvSpPr>
            <a:spLocks noChangeAspect="1" noChangeArrowheads="1"/>
          </p:cNvSpPr>
          <p:nvPr/>
        </p:nvSpPr>
        <p:spPr bwMode="auto">
          <a:xfrm>
            <a:off x="5736336" y="570918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Date Placeholder 7"/>
          <p:cNvSpPr>
            <a:spLocks noGrp="1"/>
          </p:cNvSpPr>
          <p:nvPr>
            <p:ph type="dt" idx="10"/>
          </p:nvPr>
        </p:nvSpPr>
        <p:spPr/>
        <p:txBody>
          <a:bodyPr/>
          <a:lstStyle/>
          <a:p>
            <a:r>
              <a:rPr lang="en-US" dirty="0"/>
              <a:t>1-May-26</a:t>
            </a:r>
          </a:p>
        </p:txBody>
      </p:sp>
      <p:sp>
        <p:nvSpPr>
          <p:cNvPr id="9" name="Footer Placeholder 8"/>
          <p:cNvSpPr>
            <a:spLocks noGrp="1"/>
          </p:cNvSpPr>
          <p:nvPr>
            <p:ph type="ftr" idx="11"/>
          </p:nvPr>
        </p:nvSpPr>
        <p:spPr/>
        <p:txBody>
          <a:bodyPr/>
          <a:lstStyle/>
          <a:p>
            <a:r>
              <a:rPr lang="en-US" dirty="0"/>
              <a:t>Department of CSE </a:t>
            </a:r>
          </a:p>
        </p:txBody>
      </p:sp>
      <p:pic>
        <p:nvPicPr>
          <p:cNvPr id="10" name="Picture 3">
            <a:extLst>
              <a:ext uri="{FF2B5EF4-FFF2-40B4-BE49-F238E27FC236}">
                <a16:creationId xmlns:a16="http://schemas.microsoft.com/office/drawing/2014/main" id="{8F0315C0-F818-46A8-B381-3AB62D76B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9011" y="2146303"/>
            <a:ext cx="352425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017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2193" y="320675"/>
            <a:ext cx="9860902" cy="1325563"/>
          </a:xfrm>
        </p:spPr>
        <p:txBody>
          <a:bodyPr>
            <a:normAutofit/>
          </a:bodyPr>
          <a:lstStyle/>
          <a:p>
            <a:r>
              <a:rPr lang="en-US" sz="3500" b="1" dirty="0"/>
              <a:t>UML DIAGRAM (CLASS DIAGRAM)</a:t>
            </a:r>
            <a:endParaRPr lang="en-US" sz="3500" dirty="0"/>
          </a:p>
        </p:txBody>
      </p:sp>
      <p:sp>
        <p:nvSpPr>
          <p:cNvPr id="3" name="Text Placeholder 2"/>
          <p:cNvSpPr>
            <a:spLocks noGrp="1"/>
          </p:cNvSpPr>
          <p:nvPr>
            <p:ph type="body" idx="1"/>
          </p:nvPr>
        </p:nvSpPr>
        <p:spPr/>
        <p:txBody>
          <a:bodyPr>
            <a:normAutofit/>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a:extLst>
              <a:ext uri="{FF2B5EF4-FFF2-40B4-BE49-F238E27FC236}">
                <a16:creationId xmlns:a16="http://schemas.microsoft.com/office/drawing/2014/main" id="{1C4CA310-E6FE-4D20-8B51-A86699AA5D4A}"/>
              </a:ext>
            </a:extLst>
          </p:cNvPr>
          <p:cNvPicPr>
            <a:picLocks noChangeAspect="1"/>
          </p:cNvPicPr>
          <p:nvPr/>
        </p:nvPicPr>
        <p:blipFill rotWithShape="1">
          <a:blip r:embed="rId2"/>
          <a:srcRect l="12245" t="9718" r="12897" b="10109"/>
          <a:stretch/>
        </p:blipFill>
        <p:spPr>
          <a:xfrm>
            <a:off x="2505076" y="1804193"/>
            <a:ext cx="6904304" cy="4462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498" y="500062"/>
            <a:ext cx="9860902" cy="1325563"/>
          </a:xfrm>
        </p:spPr>
        <p:txBody>
          <a:bodyPr>
            <a:normAutofit/>
          </a:bodyPr>
          <a:lstStyle/>
          <a:p>
            <a:r>
              <a:rPr lang="en-US" sz="3500" b="1" dirty="0"/>
              <a:t>ACTIVITY DIAGRAM</a:t>
            </a:r>
            <a:endParaRPr lang="en-US" sz="3500" dirty="0"/>
          </a:p>
        </p:txBody>
      </p:sp>
      <p:sp>
        <p:nvSpPr>
          <p:cNvPr id="3" name="Text Placeholder 2"/>
          <p:cNvSpPr>
            <a:spLocks noGrp="1"/>
          </p:cNvSpPr>
          <p:nvPr>
            <p:ph type="body" idx="1"/>
          </p:nvPr>
        </p:nvSpPr>
        <p:spPr/>
        <p:txBody>
          <a:bodyPr>
            <a:normAutofit/>
          </a:bodyPr>
          <a:lstStyle/>
          <a:p>
            <a:pPr marL="114300" indent="0">
              <a:lnSpc>
                <a:spcPct val="150000"/>
              </a:lnSpc>
              <a:buNone/>
            </a:pPr>
            <a:r>
              <a:rPr lang="en-US" sz="3200" dirty="0">
                <a:latin typeface="IBM Plex Mono" panose="020B0604020202020204" charset="0"/>
              </a:rPr>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a:xfrm>
            <a:off x="4038600" y="6356350"/>
            <a:ext cx="4114800" cy="365125"/>
          </a:xfrm>
        </p:spPr>
        <p:txBody>
          <a:bodyPr/>
          <a:lstStyle/>
          <a:p>
            <a:r>
              <a:rPr lang="en-US" dirty="0"/>
              <a:t>Department of CSE </a:t>
            </a:r>
          </a:p>
        </p:txBody>
      </p:sp>
      <p:pic>
        <p:nvPicPr>
          <p:cNvPr id="13" name="Picture 12">
            <a:extLst>
              <a:ext uri="{FF2B5EF4-FFF2-40B4-BE49-F238E27FC236}">
                <a16:creationId xmlns:a16="http://schemas.microsoft.com/office/drawing/2014/main" id="{EBF725E0-0745-4E43-8736-908852F38878}"/>
              </a:ext>
            </a:extLst>
          </p:cNvPr>
          <p:cNvPicPr>
            <a:picLocks noChangeAspect="1"/>
          </p:cNvPicPr>
          <p:nvPr/>
        </p:nvPicPr>
        <p:blipFill rotWithShape="1">
          <a:blip r:embed="rId2"/>
          <a:srcRect l="9957" t="3699" r="10496" b="2503"/>
          <a:stretch/>
        </p:blipFill>
        <p:spPr>
          <a:xfrm>
            <a:off x="4038600" y="1718467"/>
            <a:ext cx="4114800" cy="4548189"/>
          </a:xfrm>
          <a:prstGeom prst="rect">
            <a:avLst/>
          </a:prstGeom>
        </p:spPr>
      </p:pic>
    </p:spTree>
    <p:extLst>
      <p:ext uri="{BB962C8B-B14F-4D97-AF65-F5344CB8AC3E}">
        <p14:creationId xmlns:p14="http://schemas.microsoft.com/office/powerpoint/2010/main" val="24464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319" y="291723"/>
            <a:ext cx="9860902" cy="1325563"/>
          </a:xfrm>
        </p:spPr>
        <p:txBody>
          <a:bodyPr>
            <a:normAutofit/>
          </a:bodyPr>
          <a:lstStyle/>
          <a:p>
            <a:r>
              <a:rPr lang="en-US" sz="3500" b="1" dirty="0"/>
              <a:t>SEQUENCE DIAGRAM</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9" name="Picture 8">
            <a:extLst>
              <a:ext uri="{FF2B5EF4-FFF2-40B4-BE49-F238E27FC236}">
                <a16:creationId xmlns:a16="http://schemas.microsoft.com/office/drawing/2014/main" id="{37214EB7-1170-40FB-BB54-DA2D874AE0FC}"/>
              </a:ext>
            </a:extLst>
          </p:cNvPr>
          <p:cNvPicPr>
            <a:picLocks noChangeAspect="1"/>
          </p:cNvPicPr>
          <p:nvPr/>
        </p:nvPicPr>
        <p:blipFill rotWithShape="1">
          <a:blip r:embed="rId2"/>
          <a:srcRect b="11231"/>
          <a:stretch/>
        </p:blipFill>
        <p:spPr>
          <a:xfrm>
            <a:off x="1501558" y="2006561"/>
            <a:ext cx="9188884" cy="39846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C8781-49A8-CD2D-36A5-C882561A2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B85E7-C203-B325-9681-ED04E637AED1}"/>
              </a:ext>
            </a:extLst>
          </p:cNvPr>
          <p:cNvSpPr>
            <a:spLocks noGrp="1"/>
          </p:cNvSpPr>
          <p:nvPr>
            <p:ph type="title"/>
          </p:nvPr>
        </p:nvSpPr>
        <p:spPr>
          <a:xfrm>
            <a:off x="1663227" y="356161"/>
            <a:ext cx="9860902" cy="1325563"/>
          </a:xfrm>
        </p:spPr>
        <p:txBody>
          <a:bodyPr>
            <a:normAutofit/>
          </a:bodyPr>
          <a:lstStyle/>
          <a:p>
            <a:r>
              <a:rPr lang="en-US" sz="3500" b="1" dirty="0"/>
              <a:t>IMPLEMENTATION</a:t>
            </a:r>
            <a:endParaRPr lang="en-IN" sz="3500" b="1" dirty="0"/>
          </a:p>
        </p:txBody>
      </p:sp>
      <p:sp>
        <p:nvSpPr>
          <p:cNvPr id="4" name="Slide Number Placeholder 3">
            <a:extLst>
              <a:ext uri="{FF2B5EF4-FFF2-40B4-BE49-F238E27FC236}">
                <a16:creationId xmlns:a16="http://schemas.microsoft.com/office/drawing/2014/main" id="{0814240C-F1A8-974B-F058-FA98D350AD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
        <p:nvSpPr>
          <p:cNvPr id="3" name="TextBox 2">
            <a:extLst>
              <a:ext uri="{FF2B5EF4-FFF2-40B4-BE49-F238E27FC236}">
                <a16:creationId xmlns:a16="http://schemas.microsoft.com/office/drawing/2014/main" id="{A818F6C3-1038-4164-B07C-2179C5B462DE}"/>
              </a:ext>
            </a:extLst>
          </p:cNvPr>
          <p:cNvSpPr txBox="1"/>
          <p:nvPr/>
        </p:nvSpPr>
        <p:spPr>
          <a:xfrm>
            <a:off x="1759147" y="1843649"/>
            <a:ext cx="8470703" cy="4523226"/>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The system is implemented using Python with different libraries:</a:t>
            </a:r>
          </a:p>
          <a:p>
            <a:pPr algn="just" fontAlgn="base">
              <a:lnSpc>
                <a:spcPct val="200000"/>
              </a:lnSpc>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SpeechRecognition</a:t>
            </a:r>
            <a:r>
              <a:rPr lang="en-US" sz="1500" dirty="0">
                <a:latin typeface="Times New Roman" panose="02020603050405020304" pitchFamily="18" charset="0"/>
                <a:cs typeface="Times New Roman" panose="02020603050405020304" pitchFamily="18" charset="0"/>
              </a:rPr>
              <a:t> → Converts speech to text</a:t>
            </a:r>
          </a:p>
          <a:p>
            <a:pPr algn="just" fontAlgn="base">
              <a:lnSpc>
                <a:spcPct val="200000"/>
              </a:lnSpc>
            </a:pPr>
            <a:r>
              <a:rPr lang="en-US" sz="1500" dirty="0">
                <a:latin typeface="Times New Roman" panose="02020603050405020304" pitchFamily="18" charset="0"/>
                <a:cs typeface="Times New Roman" panose="02020603050405020304" pitchFamily="18" charset="0"/>
              </a:rPr>
              <a:t>	pyttsx3 → Converts text to speech</a:t>
            </a:r>
          </a:p>
          <a:p>
            <a:pPr algn="just" fontAlgn="base">
              <a:lnSpc>
                <a:spcPct val="200000"/>
              </a:lnSpc>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webbrowser</a:t>
            </a:r>
            <a:r>
              <a:rPr lang="en-US" sz="1500" dirty="0">
                <a:latin typeface="Times New Roman" panose="02020603050405020304" pitchFamily="18" charset="0"/>
                <a:cs typeface="Times New Roman" panose="02020603050405020304" pitchFamily="18" charset="0"/>
              </a:rPr>
              <a:t> → Opens websites</a:t>
            </a:r>
          </a:p>
          <a:p>
            <a:pPr algn="just" fontAlgn="base">
              <a:lnSpc>
                <a:spcPct val="200000"/>
              </a:lnSpc>
            </a:pP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os</a:t>
            </a:r>
            <a:r>
              <a:rPr lang="en-US" sz="1500" dirty="0">
                <a:latin typeface="Times New Roman" panose="02020603050405020304" pitchFamily="18" charset="0"/>
                <a:cs typeface="Times New Roman" panose="02020603050405020304" pitchFamily="18" charset="0"/>
              </a:rPr>
              <a:t> module → Opens applications</a:t>
            </a:r>
          </a:p>
          <a:p>
            <a:pPr algn="just" fontAlgn="base">
              <a:lnSpc>
                <a:spcPct val="150000"/>
              </a:lnSpc>
            </a:pPr>
            <a:r>
              <a:rPr lang="en-US" sz="1500" dirty="0">
                <a:latin typeface="Times New Roman" panose="02020603050405020304" pitchFamily="18" charset="0"/>
                <a:cs typeface="Times New Roman" panose="02020603050405020304" pitchFamily="18" charset="0"/>
              </a:rPr>
              <a:t>	datetime → Provides time</a:t>
            </a:r>
          </a:p>
          <a:p>
            <a:pPr marL="285750" indent="-285750" algn="just">
              <a:lnSpc>
                <a:spcPct val="200000"/>
              </a:lnSpc>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The system uses conditional statements (if-</a:t>
            </a:r>
            <a:r>
              <a:rPr lang="en-US" sz="1500" dirty="0" err="1">
                <a:latin typeface="Times New Roman" panose="02020603050405020304" pitchFamily="18" charset="0"/>
                <a:cs typeface="Times New Roman" panose="02020603050405020304" pitchFamily="18" charset="0"/>
              </a:rPr>
              <a:t>elif</a:t>
            </a:r>
            <a:r>
              <a:rPr lang="en-US" sz="1500" dirty="0">
                <a:latin typeface="Times New Roman" panose="02020603050405020304" pitchFamily="18" charset="0"/>
                <a:cs typeface="Times New Roman" panose="02020603050405020304" pitchFamily="18" charset="0"/>
              </a:rPr>
              <a:t>) to process commands and execute tasks. It follows a modular approach for easy development and maintenance.</a:t>
            </a:r>
          </a:p>
          <a:p>
            <a:pPr algn="just">
              <a:lnSpc>
                <a:spcPct val="200000"/>
              </a:lnSpc>
            </a:pPr>
            <a:br>
              <a:rPr lang="en-US" sz="1500" dirty="0">
                <a:latin typeface="Times New Roman" panose="02020603050405020304" pitchFamily="18" charset="0"/>
                <a:cs typeface="Times New Roman" panose="02020603050405020304" pitchFamily="18" charset="0"/>
              </a:rPr>
            </a:b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503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087" y="320675"/>
            <a:ext cx="9860902" cy="1325563"/>
          </a:xfrm>
        </p:spPr>
        <p:txBody>
          <a:bodyPr>
            <a:normAutofit/>
          </a:bodyPr>
          <a:lstStyle/>
          <a:p>
            <a:r>
              <a:rPr lang="en-US" sz="3500" b="1" dirty="0"/>
              <a:t>SYSTEM TESTING</a:t>
            </a:r>
          </a:p>
        </p:txBody>
      </p:sp>
      <p:sp>
        <p:nvSpPr>
          <p:cNvPr id="3" name="Text Placeholder 2"/>
          <p:cNvSpPr>
            <a:spLocks noGrp="1"/>
          </p:cNvSpPr>
          <p:nvPr>
            <p:ph type="body" idx="1"/>
          </p:nvPr>
        </p:nvSpPr>
        <p:spPr>
          <a:xfrm>
            <a:off x="1609725" y="1825625"/>
            <a:ext cx="9305925" cy="4351338"/>
          </a:xfrm>
        </p:spPr>
        <p:txBody>
          <a:bodyPr>
            <a:normAutofit/>
          </a:bodyPr>
          <a:lstStyle/>
          <a:p>
            <a:pPr algn="just">
              <a:lnSpc>
                <a:spcPct val="200000"/>
              </a:lnSpc>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Different types of testing are performed:</a:t>
            </a:r>
          </a:p>
          <a:p>
            <a:pPr marL="114300" indent="0" algn="just" fontAlgn="base">
              <a:lnSpc>
                <a:spcPct val="200000"/>
              </a:lnSpc>
              <a:buNone/>
            </a:pPr>
            <a:r>
              <a:rPr lang="en-US" sz="1500" b="1" dirty="0">
                <a:latin typeface="Times New Roman" panose="02020603050405020304" pitchFamily="18" charset="0"/>
                <a:cs typeface="Times New Roman" panose="02020603050405020304" pitchFamily="18" charset="0"/>
              </a:rPr>
              <a:t>	Unit Testing:</a:t>
            </a:r>
            <a:r>
              <a:rPr lang="en-US" sz="1500" dirty="0">
                <a:latin typeface="Times New Roman" panose="02020603050405020304" pitchFamily="18" charset="0"/>
                <a:cs typeface="Times New Roman" panose="02020603050405020304" pitchFamily="18" charset="0"/>
              </a:rPr>
              <a:t> Each module tested individually</a:t>
            </a:r>
          </a:p>
          <a:p>
            <a:pPr marL="114300" indent="0" algn="just" fontAlgn="base">
              <a:lnSpc>
                <a:spcPct val="200000"/>
              </a:lnSpc>
              <a:buNone/>
            </a:pPr>
            <a:r>
              <a:rPr lang="en-US" sz="1500" b="1" dirty="0">
                <a:latin typeface="Times New Roman" panose="02020603050405020304" pitchFamily="18" charset="0"/>
                <a:cs typeface="Times New Roman" panose="02020603050405020304" pitchFamily="18" charset="0"/>
              </a:rPr>
              <a:t>	Integration Testing:</a:t>
            </a:r>
            <a:r>
              <a:rPr lang="en-US" sz="1500" dirty="0">
                <a:latin typeface="Times New Roman" panose="02020603050405020304" pitchFamily="18" charset="0"/>
                <a:cs typeface="Times New Roman" panose="02020603050405020304" pitchFamily="18" charset="0"/>
              </a:rPr>
              <a:t> Ensures modules work together</a:t>
            </a:r>
          </a:p>
          <a:p>
            <a:pPr marL="114300" indent="0" algn="just" fontAlgn="base">
              <a:lnSpc>
                <a:spcPct val="200000"/>
              </a:lnSpc>
              <a:buNone/>
            </a:pPr>
            <a:r>
              <a:rPr lang="en-US" sz="1500" b="1" dirty="0">
                <a:latin typeface="Times New Roman" panose="02020603050405020304" pitchFamily="18" charset="0"/>
                <a:cs typeface="Times New Roman" panose="02020603050405020304" pitchFamily="18" charset="0"/>
              </a:rPr>
              <a:t>	User Acceptance Testing:</a:t>
            </a:r>
            <a:r>
              <a:rPr lang="en-US" sz="1500" dirty="0">
                <a:latin typeface="Times New Roman" panose="02020603050405020304" pitchFamily="18" charset="0"/>
                <a:cs typeface="Times New Roman" panose="02020603050405020304" pitchFamily="18" charset="0"/>
              </a:rPr>
              <a:t> Tested by users for usability</a:t>
            </a:r>
          </a:p>
          <a:p>
            <a:pPr marL="114300" indent="0" algn="just" fontAlgn="base">
              <a:lnSpc>
                <a:spcPct val="200000"/>
              </a:lnSpc>
              <a:buNone/>
            </a:pPr>
            <a:r>
              <a:rPr lang="en-US" sz="1500" b="1" dirty="0">
                <a:latin typeface="Times New Roman" panose="02020603050405020304" pitchFamily="18" charset="0"/>
                <a:cs typeface="Times New Roman" panose="02020603050405020304" pitchFamily="18" charset="0"/>
              </a:rPr>
              <a:t>	Output Testing:</a:t>
            </a:r>
            <a:r>
              <a:rPr lang="en-US" sz="1500" dirty="0">
                <a:latin typeface="Times New Roman" panose="02020603050405020304" pitchFamily="18" charset="0"/>
                <a:cs typeface="Times New Roman" panose="02020603050405020304" pitchFamily="18" charset="0"/>
              </a:rPr>
              <a:t> Checks correctness of results</a:t>
            </a:r>
          </a:p>
          <a:p>
            <a:pPr marL="114300" indent="0" algn="just" fontAlgn="base">
              <a:lnSpc>
                <a:spcPct val="200000"/>
              </a:lnSpc>
              <a:buNone/>
            </a:pPr>
            <a:r>
              <a:rPr lang="en-US" sz="1500" b="1" dirty="0">
                <a:latin typeface="Times New Roman" panose="02020603050405020304" pitchFamily="18" charset="0"/>
                <a:cs typeface="Times New Roman" panose="02020603050405020304" pitchFamily="18" charset="0"/>
              </a:rPr>
              <a:t>	Performance Testing:</a:t>
            </a:r>
            <a:r>
              <a:rPr lang="en-US" sz="1500" dirty="0">
                <a:latin typeface="Times New Roman" panose="02020603050405020304" pitchFamily="18" charset="0"/>
                <a:cs typeface="Times New Roman" panose="02020603050405020304" pitchFamily="18" charset="0"/>
              </a:rPr>
              <a:t> Measures speed and response time</a:t>
            </a:r>
          </a:p>
          <a:p>
            <a:pPr marL="114300" indent="0" algn="just">
              <a:lnSpc>
                <a:spcPct val="200000"/>
              </a:lnSpc>
              <a:buNone/>
            </a:pPr>
            <a:r>
              <a:rPr lang="en-US" sz="1500" b="1" dirty="0">
                <a:latin typeface="Times New Roman" panose="02020603050405020304" pitchFamily="18" charset="0"/>
                <a:cs typeface="Times New Roman" panose="02020603050405020304" pitchFamily="18" charset="0"/>
              </a:rPr>
              <a:t>	Error Handling Testing:</a:t>
            </a:r>
            <a:r>
              <a:rPr lang="en-US" sz="1500" dirty="0">
                <a:latin typeface="Times New Roman" panose="02020603050405020304" pitchFamily="18" charset="0"/>
                <a:cs typeface="Times New Roman" panose="02020603050405020304" pitchFamily="18" charset="0"/>
              </a:rPr>
              <a:t> Handles invalid or unclear inputs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5298" y="320675"/>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a:xfrm>
            <a:off x="1781175" y="1825625"/>
            <a:ext cx="8867775" cy="4351338"/>
          </a:xfrm>
        </p:spPr>
        <p:txBody>
          <a:bodyPr>
            <a:normAutofit/>
          </a:bodyPr>
          <a:lstStyle/>
          <a:p>
            <a:pPr algn="just">
              <a:lnSpc>
                <a:spcPct val="200000"/>
              </a:lnSpc>
              <a:buFont typeface="Wingdings" panose="05000000000000000000" pitchFamily="2" charset="2"/>
              <a:buChar char="Ø"/>
            </a:pPr>
            <a:r>
              <a:rPr lang="en-US" sz="1500" dirty="0">
                <a:latin typeface="Times New Roman" panose="02020603050405020304" pitchFamily="18" charset="0"/>
                <a:cs typeface="Times New Roman" panose="02020603050405020304" pitchFamily="18" charset="0"/>
              </a:rPr>
              <a:t>The system produced successful results:</a:t>
            </a:r>
          </a:p>
          <a:p>
            <a:pPr algn="just" fontAlgn="base">
              <a:lnSpc>
                <a:spcPct val="200000"/>
              </a:lnSpc>
            </a:pPr>
            <a:r>
              <a:rPr lang="en-US" sz="1500" dirty="0">
                <a:latin typeface="Times New Roman" panose="02020603050405020304" pitchFamily="18" charset="0"/>
                <a:cs typeface="Times New Roman" panose="02020603050405020304" pitchFamily="18" charset="0"/>
              </a:rPr>
              <a:t>Recognizes voice input accurately</a:t>
            </a:r>
          </a:p>
          <a:p>
            <a:pPr algn="just" fontAlgn="base">
              <a:lnSpc>
                <a:spcPct val="200000"/>
              </a:lnSpc>
            </a:pPr>
            <a:r>
              <a:rPr lang="en-US" sz="1500" dirty="0">
                <a:latin typeface="Times New Roman" panose="02020603050405020304" pitchFamily="18" charset="0"/>
                <a:cs typeface="Times New Roman" panose="02020603050405020304" pitchFamily="18" charset="0"/>
              </a:rPr>
              <a:t>Opens applications and websites</a:t>
            </a:r>
          </a:p>
          <a:p>
            <a:pPr algn="just" fontAlgn="base">
              <a:lnSpc>
                <a:spcPct val="200000"/>
              </a:lnSpc>
            </a:pPr>
            <a:r>
              <a:rPr lang="en-US" sz="1500" dirty="0">
                <a:latin typeface="Times New Roman" panose="02020603050405020304" pitchFamily="18" charset="0"/>
                <a:cs typeface="Times New Roman" panose="02020603050405020304" pitchFamily="18" charset="0"/>
              </a:rPr>
              <a:t>Retrieves information from Wikipedia</a:t>
            </a:r>
          </a:p>
          <a:p>
            <a:pPr algn="just" fontAlgn="base">
              <a:lnSpc>
                <a:spcPct val="200000"/>
              </a:lnSpc>
            </a:pPr>
            <a:r>
              <a:rPr lang="en-US" sz="1500" dirty="0">
                <a:latin typeface="Times New Roman" panose="02020603050405020304" pitchFamily="18" charset="0"/>
                <a:cs typeface="Times New Roman" panose="02020603050405020304" pitchFamily="18" charset="0"/>
              </a:rPr>
              <a:t>Plays music from system</a:t>
            </a:r>
          </a:p>
          <a:p>
            <a:pPr algn="just" fontAlgn="base">
              <a:lnSpc>
                <a:spcPct val="200000"/>
              </a:lnSpc>
            </a:pPr>
            <a:r>
              <a:rPr lang="en-US" sz="1500" dirty="0">
                <a:latin typeface="Times New Roman" panose="02020603050405020304" pitchFamily="18" charset="0"/>
                <a:cs typeface="Times New Roman" panose="02020603050405020304" pitchFamily="18" charset="0"/>
              </a:rPr>
              <a:t>Tells current time</a:t>
            </a:r>
          </a:p>
          <a:p>
            <a:pPr algn="just" fontAlgn="base">
              <a:lnSpc>
                <a:spcPct val="200000"/>
              </a:lnSpc>
            </a:pPr>
            <a:r>
              <a:rPr lang="en-US" sz="1500" dirty="0">
                <a:latin typeface="Times New Roman" panose="02020603050405020304" pitchFamily="18" charset="0"/>
                <a:cs typeface="Times New Roman" panose="02020603050405020304" pitchFamily="18" charset="0"/>
              </a:rPr>
              <a:t>Provides clear voice output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Tree>
    <p:extLst>
      <p:ext uri="{BB962C8B-B14F-4D97-AF65-F5344CB8AC3E}">
        <p14:creationId xmlns:p14="http://schemas.microsoft.com/office/powerpoint/2010/main" val="2673524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5298" y="410368"/>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descr="C:\Users\welcome\Downloads\WhatsApp Image 2026-04-01 at 7.11.31 PM.jpeg">
            <a:extLst>
              <a:ext uri="{FF2B5EF4-FFF2-40B4-BE49-F238E27FC236}">
                <a16:creationId xmlns:a16="http://schemas.microsoft.com/office/drawing/2014/main" id="{3050D668-0FA7-407B-B5EA-22F1D84B459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71687" y="1870471"/>
            <a:ext cx="8048625" cy="426164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3227" y="320675"/>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9" name="Picture 8" descr="C:\Users\welcome\Downloads\WhatsApp Image 2026-04-01 at 7.14.17 PM.jpeg">
            <a:extLst>
              <a:ext uri="{FF2B5EF4-FFF2-40B4-BE49-F238E27FC236}">
                <a16:creationId xmlns:a16="http://schemas.microsoft.com/office/drawing/2014/main" id="{37A9DF5F-3731-4478-AAEF-B264E0FD446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41644" y="1870742"/>
            <a:ext cx="8108712" cy="4261104"/>
          </a:xfrm>
          <a:prstGeom prst="rect">
            <a:avLst/>
          </a:prstGeom>
          <a:noFill/>
          <a:ln>
            <a:noFill/>
          </a:ln>
        </p:spPr>
      </p:pic>
    </p:spTree>
    <p:extLst>
      <p:ext uri="{BB962C8B-B14F-4D97-AF65-F5344CB8AC3E}">
        <p14:creationId xmlns:p14="http://schemas.microsoft.com/office/powerpoint/2010/main" val="3451166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016" y="320675"/>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descr="C:\Users\welcome\Downloads\WhatsApp Image 2026-04-01 at 7.14.17 PM.jpeg">
            <a:extLst>
              <a:ext uri="{FF2B5EF4-FFF2-40B4-BE49-F238E27FC236}">
                <a16:creationId xmlns:a16="http://schemas.microsoft.com/office/drawing/2014/main" id="{90FD441C-FAF4-413E-A429-E1E40E275DB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26602" y="1844675"/>
            <a:ext cx="8138795" cy="4332288"/>
          </a:xfrm>
          <a:prstGeom prst="rect">
            <a:avLst/>
          </a:prstGeom>
          <a:noFill/>
          <a:ln>
            <a:noFill/>
          </a:ln>
        </p:spPr>
      </p:pic>
    </p:spTree>
    <p:extLst>
      <p:ext uri="{BB962C8B-B14F-4D97-AF65-F5344CB8AC3E}">
        <p14:creationId xmlns:p14="http://schemas.microsoft.com/office/powerpoint/2010/main" val="4281930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016" y="320675"/>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22</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descr="C:\Users\welcome\Downloads\WhatsApp Image 2026-04-01 at 7.53.24 PM.jpeg">
            <a:extLst>
              <a:ext uri="{FF2B5EF4-FFF2-40B4-BE49-F238E27FC236}">
                <a16:creationId xmlns:a16="http://schemas.microsoft.com/office/drawing/2014/main" id="{25256577-10B5-444D-A920-48EFF03974E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52625" y="1825626"/>
            <a:ext cx="8186737" cy="4351338"/>
          </a:xfrm>
          <a:prstGeom prst="rect">
            <a:avLst/>
          </a:prstGeom>
          <a:noFill/>
          <a:ln>
            <a:noFill/>
          </a:ln>
        </p:spPr>
      </p:pic>
    </p:spTree>
    <p:extLst>
      <p:ext uri="{BB962C8B-B14F-4D97-AF65-F5344CB8AC3E}">
        <p14:creationId xmlns:p14="http://schemas.microsoft.com/office/powerpoint/2010/main" val="62873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016" y="320675"/>
            <a:ext cx="9860902" cy="1325563"/>
          </a:xfrm>
        </p:spPr>
        <p:txBody>
          <a:bodyPr>
            <a:normAutofit/>
          </a:bodyPr>
          <a:lstStyle/>
          <a:p>
            <a:r>
              <a:rPr lang="en-US" sz="3500" b="1" dirty="0"/>
              <a:t>RESULTS/OUTPUT SCREENS</a:t>
            </a:r>
            <a:endParaRPr lang="en-US" sz="3500" dirty="0"/>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23</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descr="C:\Users\welcome\Downloads\WhatsApp Image 2026-04-01 at 7.53.24 PM.jpeg">
            <a:extLst>
              <a:ext uri="{FF2B5EF4-FFF2-40B4-BE49-F238E27FC236}">
                <a16:creationId xmlns:a16="http://schemas.microsoft.com/office/drawing/2014/main" id="{05E11B42-1314-42FA-B577-7C68F6D516F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39277"/>
            <a:ext cx="8181975" cy="4337686"/>
          </a:xfrm>
          <a:prstGeom prst="rect">
            <a:avLst/>
          </a:prstGeom>
          <a:noFill/>
          <a:ln>
            <a:noFill/>
          </a:ln>
        </p:spPr>
      </p:pic>
    </p:spTree>
    <p:extLst>
      <p:ext uri="{BB962C8B-B14F-4D97-AF65-F5344CB8AC3E}">
        <p14:creationId xmlns:p14="http://schemas.microsoft.com/office/powerpoint/2010/main" val="1517194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1157" y="391116"/>
            <a:ext cx="9860902" cy="1325563"/>
          </a:xfrm>
        </p:spPr>
        <p:txBody>
          <a:bodyPr>
            <a:normAutofit/>
          </a:bodyPr>
          <a:lstStyle/>
          <a:p>
            <a:r>
              <a:rPr lang="en-US" sz="3500" b="1" dirty="0"/>
              <a:t>RESULTS/OUTPUT SCREENS</a:t>
            </a:r>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pic>
        <p:nvPicPr>
          <p:cNvPr id="8" name="Picture 7" descr="C:\Users\welcome\Downloads\WhatsApp Image 2026-04-01 at 7.49.04 PM.jpeg">
            <a:extLst>
              <a:ext uri="{FF2B5EF4-FFF2-40B4-BE49-F238E27FC236}">
                <a16:creationId xmlns:a16="http://schemas.microsoft.com/office/drawing/2014/main" id="{4B1EBD28-D55B-44CB-AD23-48D269C749F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09774" y="1825626"/>
            <a:ext cx="8220075" cy="4402730"/>
          </a:xfrm>
          <a:prstGeom prst="rect">
            <a:avLst/>
          </a:prstGeom>
          <a:noFill/>
          <a:ln>
            <a:noFill/>
          </a:ln>
        </p:spPr>
      </p:pic>
    </p:spTree>
    <p:extLst>
      <p:ext uri="{BB962C8B-B14F-4D97-AF65-F5344CB8AC3E}">
        <p14:creationId xmlns:p14="http://schemas.microsoft.com/office/powerpoint/2010/main" val="2814443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5298" y="365125"/>
            <a:ext cx="9860902" cy="1325563"/>
          </a:xfrm>
        </p:spPr>
        <p:txBody>
          <a:bodyPr>
            <a:normAutofit/>
          </a:bodyPr>
          <a:lstStyle/>
          <a:p>
            <a:r>
              <a:rPr lang="en-US" sz="3500" b="1" dirty="0">
                <a:latin typeface="Times New Roman" panose="02020603050405020304" pitchFamily="18" charset="0"/>
                <a:cs typeface="Times New Roman" panose="02020603050405020304" pitchFamily="18" charset="0"/>
              </a:rPr>
              <a:t>CONCLUSION</a:t>
            </a:r>
            <a:endParaRPr lang="en-US" sz="3500" b="1" dirty="0">
              <a:effectLst/>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580029" y="2005012"/>
            <a:ext cx="9031941" cy="4351338"/>
          </a:xfrm>
        </p:spPr>
        <p:txBody>
          <a:bodyPr>
            <a:normAutofit/>
          </a:bodyPr>
          <a:lstStyle/>
          <a:p>
            <a:pPr algn="just">
              <a:lnSpc>
                <a:spcPct val="200000"/>
              </a:lnSpc>
            </a:pPr>
            <a:r>
              <a:rPr lang="en-US" sz="1500" dirty="0">
                <a:latin typeface="Times New Roman" panose="02020603050405020304" pitchFamily="18" charset="0"/>
                <a:cs typeface="Times New Roman" panose="02020603050405020304" pitchFamily="18" charset="0"/>
              </a:rPr>
              <a:t>The Jarvis voice assistant project successfully demonstrates a voice-based interaction system using Python. </a:t>
            </a:r>
          </a:p>
          <a:p>
            <a:pPr algn="just">
              <a:lnSpc>
                <a:spcPct val="200000"/>
              </a:lnSpc>
            </a:pPr>
            <a:r>
              <a:rPr lang="en-US" sz="1500" dirty="0">
                <a:latin typeface="Times New Roman" panose="02020603050405020304" pitchFamily="18" charset="0"/>
                <a:cs typeface="Times New Roman" panose="02020603050405020304" pitchFamily="18" charset="0"/>
              </a:rPr>
              <a:t>It captures voice input, processes commands, and performs tasks efficiently. </a:t>
            </a:r>
          </a:p>
          <a:p>
            <a:pPr algn="just">
              <a:lnSpc>
                <a:spcPct val="200000"/>
              </a:lnSpc>
            </a:pPr>
            <a:r>
              <a:rPr lang="en-US" sz="1500" dirty="0">
                <a:latin typeface="Times New Roman" panose="02020603050405020304" pitchFamily="18" charset="0"/>
                <a:cs typeface="Times New Roman" panose="02020603050405020304" pitchFamily="18" charset="0"/>
              </a:rPr>
              <a:t>The system improves user experience by reducing manual effort and providing a natural way of interaction. </a:t>
            </a:r>
          </a:p>
          <a:p>
            <a:pPr algn="just">
              <a:lnSpc>
                <a:spcPct val="200000"/>
              </a:lnSpc>
            </a:pPr>
            <a:r>
              <a:rPr lang="en-US" sz="1500" dirty="0">
                <a:latin typeface="Times New Roman" panose="02020603050405020304" pitchFamily="18" charset="0"/>
                <a:cs typeface="Times New Roman" panose="02020603050405020304" pitchFamily="18" charset="0"/>
              </a:rPr>
              <a:t>It is simple, effective, and suitable for beginners to understand automation and speech processing.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sp>
        <p:nvSpPr>
          <p:cNvPr id="6" name="Date Placeholder 5"/>
          <p:cNvSpPr>
            <a:spLocks noGrp="1"/>
          </p:cNvSpPr>
          <p:nvPr>
            <p:ph type="dt" idx="10"/>
          </p:nvPr>
        </p:nvSpPr>
        <p:spPr>
          <a:xfrm>
            <a:off x="838200" y="6356350"/>
            <a:ext cx="2743200" cy="365125"/>
          </a:xfrm>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3228" y="320675"/>
            <a:ext cx="9860902" cy="1325563"/>
          </a:xfrm>
        </p:spPr>
        <p:txBody>
          <a:bodyPr>
            <a:normAutofit/>
          </a:bodyPr>
          <a:lstStyle/>
          <a:p>
            <a:r>
              <a:rPr lang="en-US" sz="3500" b="1" dirty="0">
                <a:latin typeface="Times New Roman" panose="02020603050405020304" pitchFamily="18" charset="0"/>
                <a:cs typeface="Times New Roman" panose="02020603050405020304" pitchFamily="18" charset="0"/>
              </a:rPr>
              <a:t>FUTURE SCOPE</a:t>
            </a:r>
            <a:endParaRPr lang="en-US" sz="35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831179" y="1738312"/>
            <a:ext cx="7846221" cy="4351338"/>
          </a:xfrm>
        </p:spPr>
        <p:txBody>
          <a:bodyPr>
            <a:normAutofit/>
          </a:bodyPr>
          <a:lstStyle/>
          <a:p>
            <a:pPr algn="just" fontAlgn="base">
              <a:lnSpc>
                <a:spcPct val="200000"/>
              </a:lnSpc>
            </a:pPr>
            <a:r>
              <a:rPr lang="en-US" sz="1500" dirty="0">
                <a:latin typeface="Times New Roman" panose="02020603050405020304" pitchFamily="18" charset="0"/>
                <a:cs typeface="Times New Roman" panose="02020603050405020304" pitchFamily="18" charset="0"/>
              </a:rPr>
              <a:t>Integration with Artificial Intelligence and NLP</a:t>
            </a:r>
          </a:p>
          <a:p>
            <a:pPr algn="just" fontAlgn="base">
              <a:lnSpc>
                <a:spcPct val="200000"/>
              </a:lnSpc>
            </a:pPr>
            <a:r>
              <a:rPr lang="en-US" sz="1500" dirty="0">
                <a:latin typeface="Times New Roman" panose="02020603050405020304" pitchFamily="18" charset="0"/>
                <a:cs typeface="Times New Roman" panose="02020603050405020304" pitchFamily="18" charset="0"/>
              </a:rPr>
              <a:t>Support for multiple languages (Hindi, Telugu, etc.)</a:t>
            </a:r>
          </a:p>
          <a:p>
            <a:pPr algn="just" fontAlgn="base">
              <a:lnSpc>
                <a:spcPct val="200000"/>
              </a:lnSpc>
            </a:pPr>
            <a:r>
              <a:rPr lang="en-US" sz="1500" dirty="0">
                <a:latin typeface="Times New Roman" panose="02020603050405020304" pitchFamily="18" charset="0"/>
                <a:cs typeface="Times New Roman" panose="02020603050405020304" pitchFamily="18" charset="0"/>
              </a:rPr>
              <a:t>Development as a mobile application</a:t>
            </a:r>
          </a:p>
          <a:p>
            <a:pPr algn="just" fontAlgn="base">
              <a:lnSpc>
                <a:spcPct val="200000"/>
              </a:lnSpc>
            </a:pPr>
            <a:r>
              <a:rPr lang="en-US" sz="1500" dirty="0">
                <a:latin typeface="Times New Roman" panose="02020603050405020304" pitchFamily="18" charset="0"/>
                <a:cs typeface="Times New Roman" panose="02020603050405020304" pitchFamily="18" charset="0"/>
              </a:rPr>
              <a:t>Integration with smart home devices (IoT)</a:t>
            </a:r>
          </a:p>
          <a:p>
            <a:pPr algn="just" fontAlgn="base">
              <a:lnSpc>
                <a:spcPct val="200000"/>
              </a:lnSpc>
            </a:pPr>
            <a:r>
              <a:rPr lang="en-US" sz="1500" dirty="0">
                <a:latin typeface="Times New Roman" panose="02020603050405020304" pitchFamily="18" charset="0"/>
                <a:cs typeface="Times New Roman" panose="02020603050405020304" pitchFamily="18" charset="0"/>
              </a:rPr>
              <a:t>Improved security features (voice authentication)</a:t>
            </a:r>
          </a:p>
          <a:p>
            <a:pPr algn="just" fontAlgn="base">
              <a:lnSpc>
                <a:spcPct val="200000"/>
              </a:lnSpc>
            </a:pPr>
            <a:r>
              <a:rPr lang="en-US" sz="1500" dirty="0">
                <a:latin typeface="Times New Roman" panose="02020603050405020304" pitchFamily="18" charset="0"/>
                <a:cs typeface="Times New Roman" panose="02020603050405020304" pitchFamily="18" charset="0"/>
              </a:rPr>
              <a:t>Addition of advanced features like reminders, weather updates, and automation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
        <p:nvSpPr>
          <p:cNvPr id="6" name="Date Placeholder 5"/>
          <p:cNvSpPr>
            <a:spLocks noGrp="1"/>
          </p:cNvSpPr>
          <p:nvPr>
            <p:ph type="dt" idx="10"/>
          </p:nvPr>
        </p:nvSpPr>
        <p:spPr/>
        <p:txBody>
          <a:bodyPr/>
          <a:lstStyle/>
          <a:p>
            <a:r>
              <a:rPr lang="en-US" dirty="0"/>
              <a:t>1-May-26</a:t>
            </a:r>
          </a:p>
        </p:txBody>
      </p:sp>
      <p:sp>
        <p:nvSpPr>
          <p:cNvPr id="7" name="Footer Placeholder 6"/>
          <p:cNvSpPr>
            <a:spLocks noGrp="1"/>
          </p:cNvSpPr>
          <p:nvPr>
            <p:ph type="ftr" idx="11"/>
          </p:nvPr>
        </p:nvSpPr>
        <p:spPr/>
        <p:txBody>
          <a:bodyPr/>
          <a:lstStyle/>
          <a:p>
            <a:r>
              <a:rPr lang="en-US" dirty="0"/>
              <a:t>Department of CSE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AEE0-9746-9415-82B1-C04687C53746}"/>
              </a:ext>
            </a:extLst>
          </p:cNvPr>
          <p:cNvSpPr>
            <a:spLocks noGrp="1"/>
          </p:cNvSpPr>
          <p:nvPr>
            <p:ph type="title"/>
          </p:nvPr>
        </p:nvSpPr>
        <p:spPr>
          <a:xfrm>
            <a:off x="1797698" y="347195"/>
            <a:ext cx="9860902" cy="1325563"/>
          </a:xfrm>
        </p:spPr>
        <p:txBody>
          <a:bodyPr>
            <a:normAutofit/>
          </a:bodyPr>
          <a:lstStyle/>
          <a:p>
            <a:r>
              <a:rPr lang="en-IN" sz="3500" b="1" dirty="0"/>
              <a:t>REFERENCES</a:t>
            </a:r>
          </a:p>
        </p:txBody>
      </p:sp>
      <p:sp>
        <p:nvSpPr>
          <p:cNvPr id="8" name="Date Placeholder 7"/>
          <p:cNvSpPr>
            <a:spLocks noGrp="1"/>
          </p:cNvSpPr>
          <p:nvPr>
            <p:ph type="dt" idx="10"/>
          </p:nvPr>
        </p:nvSpPr>
        <p:spPr/>
        <p:txBody>
          <a:bodyPr/>
          <a:lstStyle/>
          <a:p>
            <a:r>
              <a:rPr lang="en-US" dirty="0"/>
              <a:t>1-May-26</a:t>
            </a:r>
          </a:p>
        </p:txBody>
      </p:sp>
      <p:sp>
        <p:nvSpPr>
          <p:cNvPr id="9" name="Slide Number Placeholder 8"/>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27</a:t>
            </a:fld>
            <a:endParaRPr lang="en-US"/>
          </a:p>
        </p:txBody>
      </p:sp>
      <p:sp>
        <p:nvSpPr>
          <p:cNvPr id="10" name="Footer Placeholder 9"/>
          <p:cNvSpPr>
            <a:spLocks noGrp="1"/>
          </p:cNvSpPr>
          <p:nvPr>
            <p:ph type="ftr" idx="11"/>
          </p:nvPr>
        </p:nvSpPr>
        <p:spPr/>
        <p:txBody>
          <a:bodyPr/>
          <a:lstStyle/>
          <a:p>
            <a:r>
              <a:rPr lang="en-US" dirty="0"/>
              <a:t>Department of CSE </a:t>
            </a:r>
          </a:p>
        </p:txBody>
      </p:sp>
      <p:sp>
        <p:nvSpPr>
          <p:cNvPr id="3" name="TextBox 2">
            <a:extLst>
              <a:ext uri="{FF2B5EF4-FFF2-40B4-BE49-F238E27FC236}">
                <a16:creationId xmlns:a16="http://schemas.microsoft.com/office/drawing/2014/main" id="{8B171A19-2489-4242-BE73-BD5A4D12F8E9}"/>
              </a:ext>
            </a:extLst>
          </p:cNvPr>
          <p:cNvSpPr txBox="1"/>
          <p:nvPr/>
        </p:nvSpPr>
        <p:spPr>
          <a:xfrm>
            <a:off x="1797698" y="2118733"/>
            <a:ext cx="9349628" cy="2791983"/>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Python Software Foundation, </a:t>
            </a:r>
            <a:r>
              <a:rPr lang="en-US" sz="1500" i="1" dirty="0">
                <a:latin typeface="Times New Roman" panose="02020603050405020304" pitchFamily="18" charset="0"/>
                <a:cs typeface="Times New Roman" panose="02020603050405020304" pitchFamily="18" charset="0"/>
              </a:rPr>
              <a:t>Python Documentation</a:t>
            </a:r>
            <a:r>
              <a:rPr lang="en-US" sz="1500" dirty="0">
                <a:latin typeface="Times New Roman" panose="02020603050405020304" pitchFamily="18" charset="0"/>
                <a:cs typeface="Times New Roman" panose="02020603050405020304" pitchFamily="18" charset="0"/>
              </a:rPr>
              <a:t>. Available: </a:t>
            </a:r>
            <a:r>
              <a:rPr lang="en-US" sz="1500" dirty="0">
                <a:latin typeface="Times New Roman" panose="02020603050405020304" pitchFamily="18" charset="0"/>
                <a:cs typeface="Times New Roman" panose="02020603050405020304" pitchFamily="18" charset="0"/>
                <a:hlinkClick r:id="rId2"/>
              </a:rPr>
              <a:t>https://www.python.org/documentation/</a:t>
            </a:r>
            <a:r>
              <a:rPr lang="en-US" sz="1500" dirty="0">
                <a:latin typeface="Times New Roman" panose="02020603050405020304" pitchFamily="18" charset="0"/>
                <a:cs typeface="Times New Roman" panose="02020603050405020304" pitchFamily="18" charset="0"/>
              </a:rPr>
              <a:t> </a:t>
            </a:r>
          </a:p>
          <a:p>
            <a:pPr marL="285750" indent="-285750" algn="just">
              <a:lnSpc>
                <a:spcPct val="200000"/>
              </a:lnSpc>
              <a:buFont typeface="Arial" panose="020B0604020202020204" pitchFamily="34" charset="0"/>
              <a:buChar char="•"/>
            </a:pPr>
            <a:r>
              <a:rPr lang="en-US" sz="1500" dirty="0" err="1">
                <a:latin typeface="Times New Roman" panose="02020603050405020304" pitchFamily="18" charset="0"/>
                <a:cs typeface="Times New Roman" panose="02020603050405020304" pitchFamily="18" charset="0"/>
              </a:rPr>
              <a:t>SpeechRecognition</a:t>
            </a:r>
            <a:r>
              <a:rPr lang="en-US" sz="1500" dirty="0">
                <a:latin typeface="Times New Roman" panose="02020603050405020304" pitchFamily="18" charset="0"/>
                <a:cs typeface="Times New Roman" panose="02020603050405020304" pitchFamily="18" charset="0"/>
              </a:rPr>
              <a:t> Library Documentation (</a:t>
            </a:r>
            <a:r>
              <a:rPr lang="en-US" sz="1500" dirty="0" err="1">
                <a:latin typeface="Times New Roman" panose="02020603050405020304" pitchFamily="18" charset="0"/>
                <a:cs typeface="Times New Roman" panose="02020603050405020304" pitchFamily="18" charset="0"/>
              </a:rPr>
              <a:t>PyPI</a:t>
            </a:r>
            <a:r>
              <a:rPr lang="en-US" sz="1500" dirty="0">
                <a:latin typeface="Times New Roman" panose="02020603050405020304" pitchFamily="18" charset="0"/>
                <a:cs typeface="Times New Roman" panose="02020603050405020304" pitchFamily="18" charset="0"/>
              </a:rPr>
              <a:t>). Available: </a:t>
            </a:r>
            <a:r>
              <a:rPr lang="en-US" sz="1500" dirty="0">
                <a:latin typeface="Times New Roman" panose="02020603050405020304" pitchFamily="18" charset="0"/>
                <a:cs typeface="Times New Roman" panose="02020603050405020304" pitchFamily="18" charset="0"/>
                <a:hlinkClick r:id="rId3"/>
              </a:rPr>
              <a:t>https://pypi.org/project/SpeechRecognition/</a:t>
            </a:r>
            <a:r>
              <a:rPr lang="en-US" sz="1500" dirty="0">
                <a:latin typeface="Times New Roman" panose="02020603050405020304" pitchFamily="18" charset="0"/>
                <a:cs typeface="Times New Roman" panose="02020603050405020304" pitchFamily="18" charset="0"/>
              </a:rPr>
              <a:t> </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pyttsx3 Library Documentation (</a:t>
            </a:r>
            <a:r>
              <a:rPr lang="en-US" sz="1500" dirty="0" err="1">
                <a:latin typeface="Times New Roman" panose="02020603050405020304" pitchFamily="18" charset="0"/>
                <a:cs typeface="Times New Roman" panose="02020603050405020304" pitchFamily="18" charset="0"/>
              </a:rPr>
              <a:t>PyPI</a:t>
            </a:r>
            <a:r>
              <a:rPr lang="en-US" sz="1500" dirty="0">
                <a:latin typeface="Times New Roman" panose="02020603050405020304" pitchFamily="18" charset="0"/>
                <a:cs typeface="Times New Roman" panose="02020603050405020304" pitchFamily="18" charset="0"/>
              </a:rPr>
              <a:t>). Available: </a:t>
            </a:r>
            <a:r>
              <a:rPr lang="en-US" sz="1500" dirty="0">
                <a:latin typeface="Times New Roman" panose="02020603050405020304" pitchFamily="18" charset="0"/>
                <a:cs typeface="Times New Roman" panose="02020603050405020304" pitchFamily="18" charset="0"/>
                <a:hlinkClick r:id="rId4"/>
              </a:rPr>
              <a:t>https://pypi.org/project/pyttsx3/</a:t>
            </a:r>
            <a:r>
              <a:rPr lang="en-US" sz="1500" dirty="0">
                <a:latin typeface="Times New Roman" panose="02020603050405020304" pitchFamily="18" charset="0"/>
                <a:cs typeface="Times New Roman" panose="02020603050405020304" pitchFamily="18" charset="0"/>
              </a:rPr>
              <a:t> </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Wikimedia Foundation, </a:t>
            </a:r>
            <a:r>
              <a:rPr lang="en-US" sz="1500" i="1" dirty="0">
                <a:latin typeface="Times New Roman" panose="02020603050405020304" pitchFamily="18" charset="0"/>
                <a:cs typeface="Times New Roman" panose="02020603050405020304" pitchFamily="18" charset="0"/>
              </a:rPr>
              <a:t>Wikipedia API Documentation</a:t>
            </a:r>
            <a:r>
              <a:rPr lang="en-US" sz="1500" dirty="0">
                <a:latin typeface="Times New Roman" panose="02020603050405020304" pitchFamily="18" charset="0"/>
                <a:cs typeface="Times New Roman" panose="02020603050405020304" pitchFamily="18" charset="0"/>
              </a:rPr>
              <a:t>. Available: </a:t>
            </a:r>
            <a:r>
              <a:rPr lang="en-US" sz="1500" dirty="0">
                <a:latin typeface="Times New Roman" panose="02020603050405020304" pitchFamily="18" charset="0"/>
                <a:cs typeface="Times New Roman" panose="02020603050405020304" pitchFamily="18" charset="0"/>
                <a:hlinkClick r:id="rId5"/>
              </a:rPr>
              <a:t>https://www.mediawiki.org/wiki/API:Main_page</a:t>
            </a:r>
            <a:r>
              <a:rPr lang="en-US" sz="1500" dirty="0">
                <a:latin typeface="Times New Roman" panose="02020603050405020304" pitchFamily="18" charset="0"/>
                <a:cs typeface="Times New Roman" panose="02020603050405020304" pitchFamily="18" charset="0"/>
              </a:rPr>
              <a:t> </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Google Cloud, </a:t>
            </a:r>
            <a:r>
              <a:rPr lang="en-US" sz="1500" i="1" dirty="0">
                <a:latin typeface="Times New Roman" panose="02020603050405020304" pitchFamily="18" charset="0"/>
                <a:cs typeface="Times New Roman" panose="02020603050405020304" pitchFamily="18" charset="0"/>
              </a:rPr>
              <a:t>Speech-to-Text API Overview</a:t>
            </a:r>
            <a:r>
              <a:rPr lang="en-US" sz="1500" dirty="0">
                <a:latin typeface="Times New Roman" panose="02020603050405020304" pitchFamily="18" charset="0"/>
                <a:cs typeface="Times New Roman" panose="02020603050405020304" pitchFamily="18" charset="0"/>
              </a:rPr>
              <a:t>. Available: </a:t>
            </a:r>
            <a:r>
              <a:rPr lang="en-US" sz="1500" dirty="0">
                <a:latin typeface="Times New Roman" panose="02020603050405020304" pitchFamily="18" charset="0"/>
                <a:cs typeface="Times New Roman" panose="02020603050405020304" pitchFamily="18" charset="0"/>
                <a:hlinkClick r:id="rId6"/>
              </a:rPr>
              <a:t>https://cloud.google.com/speech-to-text</a:t>
            </a:r>
            <a:r>
              <a:rPr lang="en-US" sz="1500" dirty="0">
                <a:latin typeface="Times New Roman" panose="02020603050405020304" pitchFamily="18" charset="0"/>
                <a:cs typeface="Times New Roman" panose="02020603050405020304" pitchFamily="18" charset="0"/>
              </a:rPr>
              <a:t> </a:t>
            </a:r>
          </a:p>
          <a:p>
            <a:pPr marL="285750" indent="-285750" algn="just">
              <a:lnSpc>
                <a:spcPct val="20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Various online tutorials and research articles related to Python and voice assistant development </a:t>
            </a:r>
          </a:p>
        </p:txBody>
      </p:sp>
    </p:spTree>
    <p:extLst>
      <p:ext uri="{BB962C8B-B14F-4D97-AF65-F5344CB8AC3E}">
        <p14:creationId xmlns:p14="http://schemas.microsoft.com/office/powerpoint/2010/main" val="186301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6592D0-1453-74E0-AABC-01E9916893AE}"/>
              </a:ext>
            </a:extLst>
          </p:cNvPr>
          <p:cNvSpPr>
            <a:spLocks noGrp="1"/>
          </p:cNvSpPr>
          <p:nvPr>
            <p:ph type="title"/>
          </p:nvPr>
        </p:nvSpPr>
        <p:spPr/>
        <p:txBody>
          <a:bodyPr/>
          <a:lstStyle/>
          <a:p>
            <a:r>
              <a:rPr lang="en-IN" dirty="0"/>
              <a:t> </a:t>
            </a:r>
            <a:br>
              <a:rPr lang="en-IN" dirty="0"/>
            </a:br>
            <a:endParaRPr lang="en-IN" dirty="0"/>
          </a:p>
        </p:txBody>
      </p:sp>
      <p:sp>
        <p:nvSpPr>
          <p:cNvPr id="8" name="Text Placeholder 7">
            <a:extLst>
              <a:ext uri="{FF2B5EF4-FFF2-40B4-BE49-F238E27FC236}">
                <a16:creationId xmlns:a16="http://schemas.microsoft.com/office/drawing/2014/main" id="{D2CE3BC2-0BC0-0F8A-78A5-075BEF2898DE}"/>
              </a:ext>
            </a:extLst>
          </p:cNvPr>
          <p:cNvSpPr>
            <a:spLocks noGrp="1"/>
          </p:cNvSpPr>
          <p:nvPr>
            <p:ph type="body" idx="1"/>
          </p:nvPr>
        </p:nvSpPr>
        <p:spPr>
          <a:xfrm>
            <a:off x="2054941" y="3428999"/>
            <a:ext cx="3854245" cy="1064343"/>
          </a:xfrm>
        </p:spPr>
        <p:txBody>
          <a:bodyPr>
            <a:normAutofit/>
          </a:bodyPr>
          <a:lstStyle/>
          <a:p>
            <a:endParaRPr lang="en-IN" dirty="0"/>
          </a:p>
          <a:p>
            <a:endParaRPr lang="en-IN" dirty="0"/>
          </a:p>
        </p:txBody>
      </p:sp>
      <p:sp>
        <p:nvSpPr>
          <p:cNvPr id="4" name="Slide Number Placeholder 3">
            <a:extLst>
              <a:ext uri="{FF2B5EF4-FFF2-40B4-BE49-F238E27FC236}">
                <a16:creationId xmlns:a16="http://schemas.microsoft.com/office/drawing/2014/main" id="{2ADEFBD2-55B8-EF8B-AF5D-9803D8091163}"/>
              </a:ext>
            </a:extLst>
          </p:cNvPr>
          <p:cNvSpPr>
            <a:spLocks noGrp="1"/>
          </p:cNvSpPr>
          <p:nvPr>
            <p:ph type="sldNum" idx="12"/>
          </p:nvPr>
        </p:nvSpPr>
        <p:spPr>
          <a:xfrm>
            <a:off x="8610600" y="6356350"/>
            <a:ext cx="2743200" cy="365125"/>
          </a:xfrm>
        </p:spPr>
        <p:txBody>
          <a:bodyPr/>
          <a:lstStyle/>
          <a:p>
            <a:pPr lvl="0"/>
            <a:fld id="{00000000-1234-1234-1234-123412341234}" type="slidenum">
              <a:rPr lang="en-US" smtClean="0"/>
              <a:pPr lvl="0"/>
              <a:t>28</a:t>
            </a:fld>
            <a:endParaRPr lang="en-US"/>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2DB3F14E-7072-FA59-8428-59F039590027}"/>
                  </a:ext>
                </a:extLst>
              </p:cNvPr>
              <p:cNvGraphicFramePr>
                <a:graphicFrameLocks noChangeAspect="1"/>
              </p:cNvGraphicFramePr>
              <p:nvPr>
                <p:extLst>
                  <p:ext uri="{D42A27DB-BD31-4B8C-83A1-F6EECF244321}">
                    <p14:modId xmlns:p14="http://schemas.microsoft.com/office/powerpoint/2010/main" val="921366759"/>
                  </p:ext>
                </p:extLst>
              </p:nvPr>
            </p:nvGraphicFramePr>
            <p:xfrm>
              <a:off x="142240" y="8453120"/>
              <a:ext cx="3048000" cy="162560"/>
            </p:xfrm>
            <a:graphic>
              <a:graphicData uri="http://schemas.microsoft.com/office/powerpoint/2016/slidezoom">
                <pslz:sldZm>
                  <pslz:sldZmObj sldId="257" cId="0">
                    <pslz:zmPr id="{97FE2F01-BD55-44CE-89AD-9E79853E319B}" returnToParent="0" transitionDur="1000">
                      <p166:blipFill xmlns:p166="http://schemas.microsoft.com/office/powerpoint/2016/6/main">
                        <a:blip r:embed="rId2"/>
                        <a:stretch>
                          <a:fillRect/>
                        </a:stretch>
                      </p166:blipFill>
                      <p166:spPr xmlns:p166="http://schemas.microsoft.com/office/powerpoint/2016/6/main">
                        <a:xfrm>
                          <a:off x="0" y="0"/>
                          <a:ext cx="3048000" cy="162560"/>
                        </a:xfrm>
                        <a:prstGeom prst="rect">
                          <a:avLst/>
                        </a:prstGeom>
                        <a:ln w="3175">
                          <a:solidFill>
                            <a:prstClr val="ltGray"/>
                          </a:solidFill>
                        </a:ln>
                      </p166:spPr>
                    </pslz:zmPr>
                  </pslz:sldZmObj>
                </pslz:sldZm>
              </a:graphicData>
            </a:graphic>
          </p:graphicFrame>
        </mc:Choice>
        <mc:Fallback xmlns="">
          <p:pic>
            <p:nvPicPr>
              <p:cNvPr id="5" name="Slide Zoom 4">
                <a:hlinkClick r:id="" action="ppaction://noaction"/>
                <a:extLst>
                  <a:ext uri="{FF2B5EF4-FFF2-40B4-BE49-F238E27FC236}">
                    <a16:creationId xmlns:pslz="http://schemas.microsoft.com/office/powerpoint/2016/slidezoom" xmlns="" xmlns:a16="http://schemas.microsoft.com/office/drawing/2014/main" id="{2DB3F14E-7072-FA59-8428-59F039590027}"/>
                  </a:ext>
                </a:extLst>
              </p:cNvPr>
              <p:cNvPicPr>
                <a:picLocks noGrp="1" noRot="1" noChangeAspect="1" noMove="1" noResize="1" noEditPoints="1" noAdjustHandles="1" noChangeArrowheads="1" noChangeShapeType="1"/>
              </p:cNvPicPr>
              <p:nvPr/>
            </p:nvPicPr>
            <p:blipFill>
              <a:blip r:embed="rId3"/>
              <a:stretch>
                <a:fillRect/>
              </a:stretch>
            </p:blipFill>
            <p:spPr>
              <a:xfrm>
                <a:off x="142240" y="8453120"/>
                <a:ext cx="3048000" cy="162560"/>
              </a:xfrm>
              <a:prstGeom prst="rect">
                <a:avLst/>
              </a:prstGeom>
              <a:ln w="3175">
                <a:solidFill>
                  <a:prstClr val="ltGray"/>
                </a:solidFill>
              </a:ln>
            </p:spPr>
          </p:pic>
        </mc:Fallback>
      </mc:AlternateContent>
      <p:sp>
        <p:nvSpPr>
          <p:cNvPr id="2" name="Rectangle 1">
            <a:extLst>
              <a:ext uri="{FF2B5EF4-FFF2-40B4-BE49-F238E27FC236}">
                <a16:creationId xmlns:a16="http://schemas.microsoft.com/office/drawing/2014/main" id="{14977BC5-FBC4-B9CA-7305-56F922DDBA84}"/>
              </a:ext>
            </a:extLst>
          </p:cNvPr>
          <p:cNvSpPr/>
          <p:nvPr/>
        </p:nvSpPr>
        <p:spPr>
          <a:xfrm>
            <a:off x="3162300" y="3192307"/>
            <a:ext cx="5867400" cy="1107996"/>
          </a:xfrm>
          <a:prstGeom prst="rect">
            <a:avLst/>
          </a:prstGeom>
          <a:noFill/>
        </p:spPr>
        <p:txBody>
          <a:bodyPr wrap="square" lIns="91440" tIns="45720" rIns="91440" bIns="45720">
            <a:spAutoFit/>
          </a:bodyPr>
          <a:lstStyle/>
          <a:p>
            <a:pPr algn="ctr"/>
            <a:r>
              <a:rPr lang="en-US" sz="6600" dirty="0">
                <a:ln w="0"/>
                <a:solidFill>
                  <a:schemeClr val="tx1"/>
                </a:solidFill>
                <a:effectLst>
                  <a:outerShdw blurRad="38100" dist="19050" dir="2700000" algn="tl" rotWithShape="0">
                    <a:schemeClr val="dk1">
                      <a:alpha val="40000"/>
                    </a:schemeClr>
                  </a:outerShdw>
                </a:effectLst>
              </a:rPr>
              <a:t>THANK YOU !</a:t>
            </a:r>
            <a:endParaRPr lang="en-US" sz="6600" b="0" cap="none" spc="0" dirty="0">
              <a:ln w="0"/>
              <a:solidFill>
                <a:schemeClr val="tx1"/>
              </a:solidFill>
              <a:effectLst>
                <a:outerShdw blurRad="38100" dist="19050" dir="2700000" algn="tl" rotWithShape="0">
                  <a:schemeClr val="dk1">
                    <a:alpha val="40000"/>
                  </a:schemeClr>
                </a:outerShdw>
              </a:effectLst>
            </a:endParaRPr>
          </a:p>
        </p:txBody>
      </p:sp>
      <p:sp>
        <p:nvSpPr>
          <p:cNvPr id="10" name="Date Placeholder 9"/>
          <p:cNvSpPr>
            <a:spLocks noGrp="1"/>
          </p:cNvSpPr>
          <p:nvPr>
            <p:ph type="dt" idx="10"/>
          </p:nvPr>
        </p:nvSpPr>
        <p:spPr/>
        <p:txBody>
          <a:bodyPr/>
          <a:lstStyle/>
          <a:p>
            <a:r>
              <a:rPr lang="en-US" dirty="0"/>
              <a:t>1-May-26</a:t>
            </a:r>
          </a:p>
        </p:txBody>
      </p:sp>
      <p:sp>
        <p:nvSpPr>
          <p:cNvPr id="11" name="Footer Placeholder 10"/>
          <p:cNvSpPr>
            <a:spLocks noGrp="1"/>
          </p:cNvSpPr>
          <p:nvPr>
            <p:ph type="ftr" idx="11"/>
          </p:nvPr>
        </p:nvSpPr>
        <p:spPr/>
        <p:txBody>
          <a:bodyPr/>
          <a:lstStyle/>
          <a:p>
            <a:r>
              <a:rPr lang="en-US" dirty="0"/>
              <a:t>Department of CSE </a:t>
            </a:r>
          </a:p>
        </p:txBody>
      </p:sp>
    </p:spTree>
    <p:extLst>
      <p:ext uri="{BB962C8B-B14F-4D97-AF65-F5344CB8AC3E}">
        <p14:creationId xmlns:p14="http://schemas.microsoft.com/office/powerpoint/2010/main" val="2776877855"/>
      </p:ext>
    </p:extLst>
  </p:cSld>
  <p:clrMapOvr>
    <a:masterClrMapping/>
  </p:clrMapOvr>
</p:sld>
</file>

<file path=ppt/theme/theme1.xml><?xml version="1.0" encoding="utf-8"?>
<a:theme xmlns:a="http://schemas.openxmlformats.org/drawingml/2006/main" name="R19-Mini-Projects">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923</TotalTime>
  <Words>1262</Words>
  <Application>Microsoft Office PowerPoint</Application>
  <PresentationFormat>Widescreen</PresentationFormat>
  <Paragraphs>249</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IBM Plex Mono</vt:lpstr>
      <vt:lpstr>Times New Roman</vt:lpstr>
      <vt:lpstr>Wingdings</vt:lpstr>
      <vt:lpstr>R19-Mini-Projects</vt:lpstr>
      <vt:lpstr>VIDYA JYOTHI INSTITUTE OF TECHNOLOGY (Autonomous) </vt:lpstr>
      <vt:lpstr>CONTENTS</vt:lpstr>
      <vt:lpstr>INTRODUCTION</vt:lpstr>
      <vt:lpstr>PowerPoint Presentation</vt:lpstr>
      <vt:lpstr>LITERATURE SURVEY</vt:lpstr>
      <vt:lpstr>DRAWBACKS OF EXISTING SYSTEM</vt:lpstr>
      <vt:lpstr>PROPOSED SYSTEM </vt:lpstr>
      <vt:lpstr>SOFTWARE AND HARDWARE REQUIREMENTS</vt:lpstr>
      <vt:lpstr>MODULES</vt:lpstr>
      <vt:lpstr>ARCHITECTURE </vt:lpstr>
      <vt:lpstr>ARCHITECTURE </vt:lpstr>
      <vt:lpstr>UML DIAGRAMS (USE CASE)</vt:lpstr>
      <vt:lpstr>UML DIAGRAM (CLASS DIAGRAM)</vt:lpstr>
      <vt:lpstr>ACTIVITY DIAGRAM</vt:lpstr>
      <vt:lpstr>SEQUENCE DIAGRAM</vt:lpstr>
      <vt:lpstr>IMPLEMENTATION</vt:lpstr>
      <vt:lpstr>SYSTEM TESTING</vt:lpstr>
      <vt:lpstr>RESULTS/OUTPUT SCREENS</vt:lpstr>
      <vt:lpstr>RESULTS/OUTPUT SCREENS</vt:lpstr>
      <vt:lpstr>RESULTS/OUTPUT SCREENS</vt:lpstr>
      <vt:lpstr>RESULTS/OUTPUT SCREENS</vt:lpstr>
      <vt:lpstr>RESULTS/OUTPUT SCREENS</vt:lpstr>
      <vt:lpstr>RESULTS/OUTPUT SCREENS</vt:lpstr>
      <vt:lpstr>RESULTS/OUTPUT SCREENS</vt:lpstr>
      <vt:lpstr>CONCLUSION</vt:lpstr>
      <vt:lpstr>FUTURE SCOPE</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VIDYA JYOTHI INSTITUTE OF TECHNOLOGY (Autonomous)</dc:title>
  <dc:creator>ML-BASED STOCK MARKET FORECASTER</dc:creator>
  <cp:keywords>ML-BASED STOCK MARKET FORECASTER</cp:keywords>
  <cp:lastModifiedBy>welcome</cp:lastModifiedBy>
  <cp:revision>68</cp:revision>
  <dcterms:modified xsi:type="dcterms:W3CDTF">2026-08-04T09:02:54Z</dcterms:modified>
</cp:coreProperties>
</file>